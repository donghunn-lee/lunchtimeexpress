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80" r:id="rId5"/>
    <p:sldId id="262" r:id="rId6"/>
    <p:sldId id="278" r:id="rId7"/>
    <p:sldId id="281" r:id="rId8"/>
    <p:sldId id="285" r:id="rId9"/>
    <p:sldId id="282" r:id="rId10"/>
    <p:sldId id="286" r:id="rId11"/>
    <p:sldId id="287" r:id="rId12"/>
    <p:sldId id="289" r:id="rId13"/>
    <p:sldId id="279" r:id="rId14"/>
    <p:sldId id="275" r:id="rId15"/>
  </p:sldIdLst>
  <p:sldSz cx="10696575" cy="7562850"/>
  <p:notesSz cx="7562850" cy="106965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52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84" y="1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5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949" y="2398106"/>
            <a:ext cx="9492738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7000" dirty="0">
                <a:solidFill>
                  <a:srgbClr val="FFFFFF"/>
                </a:solidFill>
                <a:latin typeface="Arial Rounded MT Bold" panose="020F0704030504030204" pitchFamily="34" charset="0"/>
                <a:cs typeface="Jalnan OTF" pitchFamily="34" charset="0"/>
              </a:rPr>
              <a:t>Lunch Time Manager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30523" y="1256795"/>
            <a:ext cx="4595795" cy="11518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Jalnan OTF" pitchFamily="34" charset="0"/>
              </a:rPr>
              <a:t>명지</a:t>
            </a:r>
            <a:r>
              <a:rPr lang="en-US" sz="300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Jalnan OTF" pitchFamily="34" charset="0"/>
              </a:rPr>
              <a:t>대학교</a:t>
            </a:r>
            <a:r>
              <a:rPr lang="en-US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Jalnan OTF" pitchFamily="34" charset="0"/>
              </a:rPr>
              <a:t> </a:t>
            </a:r>
            <a:r>
              <a:rPr lang="ko-KR" altLang="en-US" sz="30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  <a:cs typeface="Jalnan OTF" pitchFamily="34" charset="0"/>
              </a:rPr>
              <a:t>정보통신공학과</a:t>
            </a:r>
            <a:endParaRPr lang="en-US" altLang="ko-KR" sz="30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  <a:cs typeface="Jalnan OTF" pitchFamily="34" charset="0"/>
            </a:endParaRPr>
          </a:p>
          <a:p>
            <a:pPr>
              <a:lnSpc>
                <a:spcPct val="150000"/>
              </a:lnSpc>
            </a:pPr>
            <a:r>
              <a:rPr lang="ko-KR" altLang="en-US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캡스톤디자인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2 – </a:t>
            </a:r>
            <a:r>
              <a:rPr lang="ko-KR" altLang="en-US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" panose="020D0604000000000000" pitchFamily="50" charset="-127"/>
                <a:ea typeface="나눔고딕" panose="020D0604000000000000" pitchFamily="50" charset="-127"/>
              </a:rPr>
              <a:t>최종 발표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1001" name="그룹 1001"/>
          <p:cNvGrpSpPr/>
          <p:nvPr/>
        </p:nvGrpSpPr>
        <p:grpSpPr>
          <a:xfrm>
            <a:off x="-165154" y="4469539"/>
            <a:ext cx="11076041" cy="2456361"/>
            <a:chOff x="-169127" y="4469539"/>
            <a:chExt cx="11076041" cy="2456361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69127" y="4469539"/>
              <a:ext cx="11076041" cy="245636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44378" y="5132367"/>
            <a:ext cx="2570309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LTE : Lunch Time Express</a:t>
            </a:r>
          </a:p>
          <a:p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02" name="그룹 1002"/>
          <p:cNvGrpSpPr/>
          <p:nvPr/>
        </p:nvGrpSpPr>
        <p:grpSpPr>
          <a:xfrm>
            <a:off x="644378" y="5113649"/>
            <a:ext cx="2417909" cy="45719"/>
            <a:chOff x="644378" y="5113649"/>
            <a:chExt cx="2174563" cy="20939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4378" y="5113649"/>
              <a:ext cx="2174563" cy="20939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027181" y="5113649"/>
            <a:ext cx="1930706" cy="45719"/>
            <a:chOff x="4027181" y="5113649"/>
            <a:chExt cx="1866453" cy="2093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7181" y="5113649"/>
              <a:ext cx="1866453" cy="20939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963330" y="5160187"/>
            <a:ext cx="1461157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김혁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dist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이동훈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dist"/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전 성 권</a:t>
            </a:r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dist"/>
            <a:endParaRPr lang="en-US" altLang="ko-K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Object 14">
            <a:extLst>
              <a:ext uri="{FF2B5EF4-FFF2-40B4-BE49-F238E27FC236}">
                <a16:creationId xmlns:a16="http://schemas.microsoft.com/office/drawing/2014/main" id="{11CABFCF-C651-9322-AD3D-2DBF7D2922C4}"/>
              </a:ext>
            </a:extLst>
          </p:cNvPr>
          <p:cNvSpPr txBox="1"/>
          <p:nvPr/>
        </p:nvSpPr>
        <p:spPr>
          <a:xfrm>
            <a:off x="644377" y="4732257"/>
            <a:ext cx="2174563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rgbClr val="3B3B3B"/>
                </a:solidFill>
                <a:latin typeface="S-Core Dream 6 Bold" pitchFamily="34" charset="0"/>
              </a:rPr>
              <a:t>팀</a:t>
            </a:r>
            <a:r>
              <a:rPr lang="en-US" altLang="ko-KR" sz="2000" dirty="0">
                <a:solidFill>
                  <a:srgbClr val="3B3B3B"/>
                </a:solidFill>
                <a:latin typeface="S-Core Dream 6 Bold" pitchFamily="34" charset="0"/>
              </a:rPr>
              <a:t>	</a:t>
            </a:r>
            <a:r>
              <a:rPr lang="ko-KR" altLang="en-US" sz="2000" dirty="0">
                <a:solidFill>
                  <a:srgbClr val="3B3B3B"/>
                </a:solidFill>
                <a:latin typeface="S-Core Dream 6 Bold" pitchFamily="34" charset="0"/>
              </a:rPr>
              <a:t>명</a:t>
            </a:r>
            <a:endParaRPr lang="en-US" sz="2000" dirty="0"/>
          </a:p>
        </p:txBody>
      </p:sp>
      <p:sp>
        <p:nvSpPr>
          <p:cNvPr id="6" name="Object 14">
            <a:extLst>
              <a:ext uri="{FF2B5EF4-FFF2-40B4-BE49-F238E27FC236}">
                <a16:creationId xmlns:a16="http://schemas.microsoft.com/office/drawing/2014/main" id="{2B3ADB38-F82D-E919-5C60-73227A023D19}"/>
              </a:ext>
            </a:extLst>
          </p:cNvPr>
          <p:cNvSpPr txBox="1"/>
          <p:nvPr/>
        </p:nvSpPr>
        <p:spPr>
          <a:xfrm>
            <a:off x="3976687" y="4759068"/>
            <a:ext cx="186645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dirty="0">
                <a:solidFill>
                  <a:srgbClr val="3B3B3B"/>
                </a:solidFill>
                <a:latin typeface="S-Core Dream 6 Bold" pitchFamily="34" charset="0"/>
              </a:rPr>
              <a:t>팀</a:t>
            </a:r>
            <a:r>
              <a:rPr lang="en-US" altLang="ko-KR" sz="2000" dirty="0">
                <a:solidFill>
                  <a:srgbClr val="3B3B3B"/>
                </a:solidFill>
                <a:latin typeface="S-Core Dream 6 Bold" pitchFamily="34" charset="0"/>
              </a:rPr>
              <a:t>	</a:t>
            </a:r>
            <a:r>
              <a:rPr lang="ko-KR" altLang="en-US" sz="2000" dirty="0">
                <a:solidFill>
                  <a:srgbClr val="3B3B3B"/>
                </a:solidFill>
                <a:latin typeface="S-Core Dream 6 Bold" pitchFamily="34" charset="0"/>
              </a:rPr>
              <a:t>원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그룹 1002">
            <a:extLst>
              <a:ext uri="{FF2B5EF4-FFF2-40B4-BE49-F238E27FC236}">
                <a16:creationId xmlns:a16="http://schemas.microsoft.com/office/drawing/2014/main" id="{DA9D3BE5-FF8A-1752-0C8B-AB4503E50E6F}"/>
              </a:ext>
            </a:extLst>
          </p:cNvPr>
          <p:cNvGrpSpPr/>
          <p:nvPr/>
        </p:nvGrpSpPr>
        <p:grpSpPr>
          <a:xfrm>
            <a:off x="896586" y="3865944"/>
            <a:ext cx="8903401" cy="72000"/>
            <a:chOff x="618295" y="3800952"/>
            <a:chExt cx="9458649" cy="73288"/>
          </a:xfrm>
        </p:grpSpPr>
        <p:pic>
          <p:nvPicPr>
            <p:cNvPr id="39" name="Object 8">
              <a:extLst>
                <a:ext uri="{FF2B5EF4-FFF2-40B4-BE49-F238E27FC236}">
                  <a16:creationId xmlns:a16="http://schemas.microsoft.com/office/drawing/2014/main" id="{F162E551-F2D4-F0D6-7D5B-4404DFF8F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sp>
        <p:nvSpPr>
          <p:cNvPr id="2" name="Object 2"/>
          <p:cNvSpPr txBox="1"/>
          <p:nvPr/>
        </p:nvSpPr>
        <p:spPr>
          <a:xfrm>
            <a:off x="654626" y="1671162"/>
            <a:ext cx="168097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8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Contents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654626" y="1350187"/>
            <a:ext cx="116523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00</a:t>
            </a:r>
            <a:endParaRPr 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896585" y="3171827"/>
            <a:ext cx="178068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01</a:t>
            </a:r>
            <a:endParaRPr lang="en-US" altLang="ko-KR" sz="1600" dirty="0"/>
          </a:p>
          <a:p>
            <a:r>
              <a:rPr lang="en-US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Introduction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77265" y="3171827"/>
            <a:ext cx="1780681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02</a:t>
            </a:r>
            <a:endParaRPr lang="en-US" altLang="ko-KR" sz="1600" dirty="0"/>
          </a:p>
          <a:p>
            <a:r>
              <a:rPr lang="en-US" altLang="ko-KR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Deep Learning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457946" y="3171827"/>
            <a:ext cx="1780680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03</a:t>
            </a:r>
          </a:p>
          <a:p>
            <a:r>
              <a:rPr lang="en-US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Application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896586" y="4010025"/>
            <a:ext cx="1780679" cy="7035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주제 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〮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선정 이유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역할 분담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S-Core Dream 3 Light" pitchFamily="34" charset="0"/>
              <a:cs typeface="S-Core Dream 3 Light" pitchFamily="34" charset="0"/>
            </a:endParaRPr>
          </a:p>
        </p:txBody>
      </p:sp>
      <p:sp>
        <p:nvSpPr>
          <p:cNvPr id="10" name="Object 18">
            <a:extLst>
              <a:ext uri="{FF2B5EF4-FFF2-40B4-BE49-F238E27FC236}">
                <a16:creationId xmlns:a16="http://schemas.microsoft.com/office/drawing/2014/main" id="{7C57B0BA-8A17-DFB7-5A5F-B357512F8BF2}"/>
              </a:ext>
            </a:extLst>
          </p:cNvPr>
          <p:cNvSpPr txBox="1"/>
          <p:nvPr/>
        </p:nvSpPr>
        <p:spPr>
          <a:xfrm>
            <a:off x="6238626" y="3171827"/>
            <a:ext cx="1780681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04</a:t>
            </a:r>
          </a:p>
          <a:p>
            <a:r>
              <a:rPr lang="en-US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Presentation</a:t>
            </a:r>
          </a:p>
        </p:txBody>
      </p:sp>
      <p:sp>
        <p:nvSpPr>
          <p:cNvPr id="29" name="Object 19">
            <a:extLst>
              <a:ext uri="{FF2B5EF4-FFF2-40B4-BE49-F238E27FC236}">
                <a16:creationId xmlns:a16="http://schemas.microsoft.com/office/drawing/2014/main" id="{3B976213-D367-A1BE-C25B-5376B9013F99}"/>
              </a:ext>
            </a:extLst>
          </p:cNvPr>
          <p:cNvSpPr txBox="1"/>
          <p:nvPr/>
        </p:nvSpPr>
        <p:spPr>
          <a:xfrm>
            <a:off x="2677265" y="4010025"/>
            <a:ext cx="1505316" cy="10266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Yolov5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Dataset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모델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학습 과정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S-Core Dream 3 Light" pitchFamily="34" charset="0"/>
              <a:cs typeface="S-Core Dream 3 Light" pitchFamily="34" charset="0"/>
            </a:endParaRPr>
          </a:p>
        </p:txBody>
      </p:sp>
      <p:grpSp>
        <p:nvGrpSpPr>
          <p:cNvPr id="20" name="그룹 1004">
            <a:extLst>
              <a:ext uri="{FF2B5EF4-FFF2-40B4-BE49-F238E27FC236}">
                <a16:creationId xmlns:a16="http://schemas.microsoft.com/office/drawing/2014/main" id="{BE3EB11F-4FED-6BD5-D441-5BD286714CC0}"/>
              </a:ext>
            </a:extLst>
          </p:cNvPr>
          <p:cNvGrpSpPr/>
          <p:nvPr/>
        </p:nvGrpSpPr>
        <p:grpSpPr>
          <a:xfrm>
            <a:off x="618962" y="6600825"/>
            <a:ext cx="9458649" cy="14513"/>
            <a:chOff x="618295" y="5875437"/>
            <a:chExt cx="9458649" cy="14513"/>
          </a:xfrm>
          <a:solidFill>
            <a:schemeClr val="tx1">
              <a:lumMod val="85000"/>
              <a:lumOff val="15000"/>
            </a:schemeClr>
          </a:solidFill>
        </p:grpSpPr>
        <p:pic>
          <p:nvPicPr>
            <p:cNvPr id="21" name="Object 25">
              <a:extLst>
                <a:ext uri="{FF2B5EF4-FFF2-40B4-BE49-F238E27FC236}">
                  <a16:creationId xmlns:a16="http://schemas.microsoft.com/office/drawing/2014/main" id="{D6A994C6-BBE0-8EF8-155F-30C808AF0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295" y="5875437"/>
              <a:ext cx="9458649" cy="14513"/>
            </a:xfrm>
            <a:prstGeom prst="rect">
              <a:avLst/>
            </a:prstGeom>
            <a:grpFill/>
          </p:spPr>
        </p:pic>
      </p:grpSp>
      <p:sp>
        <p:nvSpPr>
          <p:cNvPr id="5" name="Object 19">
            <a:extLst>
              <a:ext uri="{FF2B5EF4-FFF2-40B4-BE49-F238E27FC236}">
                <a16:creationId xmlns:a16="http://schemas.microsoft.com/office/drawing/2014/main" id="{A23E132B-C114-9CF5-5000-E4A2324D017C}"/>
              </a:ext>
            </a:extLst>
          </p:cNvPr>
          <p:cNvSpPr txBox="1"/>
          <p:nvPr/>
        </p:nvSpPr>
        <p:spPr>
          <a:xfrm>
            <a:off x="4457943" y="4010025"/>
            <a:ext cx="1934891" cy="13498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디자인 초안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S-Core Dream 3 Light" pitchFamily="34" charset="0"/>
              <a:cs typeface="S-Core Dream 3 Light" pitchFamily="34" charset="0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메인 화면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S-Core Dream 3 Light" pitchFamily="34" charset="0"/>
              <a:cs typeface="S-Core Dream 3 Light" pitchFamily="34" charset="0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로그인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S-Core Dream 3 Light" pitchFamily="34" charset="0"/>
              <a:cs typeface="S-Core Dream 3 Light" pitchFamily="34" charset="0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리뷰 게시판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S-Core Dream 3 Light" pitchFamily="34" charset="0"/>
              <a:cs typeface="S-Core Dream 3 Light" pitchFamily="34" charset="0"/>
            </a:endParaRPr>
          </a:p>
        </p:txBody>
      </p:sp>
      <p:sp>
        <p:nvSpPr>
          <p:cNvPr id="7" name="Object 19">
            <a:extLst>
              <a:ext uri="{FF2B5EF4-FFF2-40B4-BE49-F238E27FC236}">
                <a16:creationId xmlns:a16="http://schemas.microsoft.com/office/drawing/2014/main" id="{1176EA99-28DB-D380-6363-47E31A32EB05}"/>
              </a:ext>
            </a:extLst>
          </p:cNvPr>
          <p:cNvSpPr txBox="1"/>
          <p:nvPr/>
        </p:nvSpPr>
        <p:spPr>
          <a:xfrm>
            <a:off x="6238623" y="4010025"/>
            <a:ext cx="1505316" cy="38036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App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 시연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S-Core Dream 3 Light" pitchFamily="34" charset="0"/>
              <a:cs typeface="S-Core Dream 3 Light" pitchFamily="34" charset="0"/>
            </a:endParaRPr>
          </a:p>
        </p:txBody>
      </p:sp>
      <p:sp>
        <p:nvSpPr>
          <p:cNvPr id="8" name="Object 18">
            <a:extLst>
              <a:ext uri="{FF2B5EF4-FFF2-40B4-BE49-F238E27FC236}">
                <a16:creationId xmlns:a16="http://schemas.microsoft.com/office/drawing/2014/main" id="{843420D3-4A47-849B-F223-9F240BB6EACB}"/>
              </a:ext>
            </a:extLst>
          </p:cNvPr>
          <p:cNvSpPr txBox="1"/>
          <p:nvPr/>
        </p:nvSpPr>
        <p:spPr>
          <a:xfrm>
            <a:off x="8019306" y="3171827"/>
            <a:ext cx="1780681" cy="61555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6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05</a:t>
            </a:r>
          </a:p>
          <a:p>
            <a:r>
              <a:rPr lang="en-US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Project Results</a:t>
            </a:r>
          </a:p>
        </p:txBody>
      </p:sp>
      <p:sp>
        <p:nvSpPr>
          <p:cNvPr id="11" name="Object 19">
            <a:extLst>
              <a:ext uri="{FF2B5EF4-FFF2-40B4-BE49-F238E27FC236}">
                <a16:creationId xmlns:a16="http://schemas.microsoft.com/office/drawing/2014/main" id="{48479B39-ED1B-BDA3-B5DB-2B2B1B2977A4}"/>
              </a:ext>
            </a:extLst>
          </p:cNvPr>
          <p:cNvSpPr txBox="1"/>
          <p:nvPr/>
        </p:nvSpPr>
        <p:spPr>
          <a:xfrm>
            <a:off x="8019301" y="4010025"/>
            <a:ext cx="2264658" cy="7035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계획 이행 확인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S-Core Dream 3 Light" pitchFamily="34" charset="0"/>
              <a:cs typeface="S-Core Dream 3 Light" pitchFamily="34" charset="0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-Core Dream 3 Light" pitchFamily="34" charset="0"/>
                <a:cs typeface="S-Core Dream 3 Light" pitchFamily="34" charset="0"/>
              </a:rPr>
              <a:t>마무리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S-Core Dream 3 Light" pitchFamily="34" charset="0"/>
              <a:cs typeface="S-Core Dream 3 Light" pitchFamily="34" charset="0"/>
            </a:endParaRPr>
          </a:p>
        </p:txBody>
      </p:sp>
      <p:grpSp>
        <p:nvGrpSpPr>
          <p:cNvPr id="54" name="그룹 1003">
            <a:extLst>
              <a:ext uri="{FF2B5EF4-FFF2-40B4-BE49-F238E27FC236}">
                <a16:creationId xmlns:a16="http://schemas.microsoft.com/office/drawing/2014/main" id="{DC4A268A-2390-2BFB-91B8-EE3975F5126E}"/>
              </a:ext>
            </a:extLst>
          </p:cNvPr>
          <p:cNvGrpSpPr/>
          <p:nvPr/>
        </p:nvGrpSpPr>
        <p:grpSpPr>
          <a:xfrm>
            <a:off x="912869" y="3861455"/>
            <a:ext cx="1744063" cy="73288"/>
            <a:chOff x="2294344" y="3800952"/>
            <a:chExt cx="1342815" cy="73288"/>
          </a:xfrm>
        </p:grpSpPr>
        <p:pic>
          <p:nvPicPr>
            <p:cNvPr id="55" name="Object 11">
              <a:extLst>
                <a:ext uri="{FF2B5EF4-FFF2-40B4-BE49-F238E27FC236}">
                  <a16:creationId xmlns:a16="http://schemas.microsoft.com/office/drawing/2014/main" id="{B4E5A740-173F-2989-3671-B078777F5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  <p:grpSp>
        <p:nvGrpSpPr>
          <p:cNvPr id="56" name="그룹 1001">
            <a:extLst>
              <a:ext uri="{FF2B5EF4-FFF2-40B4-BE49-F238E27FC236}">
                <a16:creationId xmlns:a16="http://schemas.microsoft.com/office/drawing/2014/main" id="{937CA2E8-2ED5-A75D-2218-72C47E022F15}"/>
              </a:ext>
            </a:extLst>
          </p:cNvPr>
          <p:cNvGrpSpPr/>
          <p:nvPr/>
        </p:nvGrpSpPr>
        <p:grpSpPr>
          <a:xfrm>
            <a:off x="1210283" y="1550686"/>
            <a:ext cx="1242404" cy="20939"/>
            <a:chOff x="1063081" y="1518058"/>
            <a:chExt cx="1242404" cy="20939"/>
          </a:xfrm>
        </p:grpSpPr>
        <p:pic>
          <p:nvPicPr>
            <p:cNvPr id="57" name="Object 5">
              <a:extLst>
                <a:ext uri="{FF2B5EF4-FFF2-40B4-BE49-F238E27FC236}">
                  <a16:creationId xmlns:a16="http://schemas.microsoft.com/office/drawing/2014/main" id="{F31117B7-5D9D-6264-5DA9-05D7EE74D2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0800000">
              <a:off x="1063081" y="1518058"/>
              <a:ext cx="1242404" cy="209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4511" y="1671162"/>
            <a:ext cx="9371975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주제 </a:t>
            </a:r>
            <a:r>
              <a:rPr lang="en-US" altLang="ko-KR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: Deep Learning</a:t>
            </a:r>
            <a:r>
              <a:rPr lang="ko-KR" altLang="en-US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을 사용한 인원 계수 프로그램으로</a:t>
            </a:r>
            <a:endParaRPr lang="en-US" altLang="ko-KR" sz="2800" b="1" dirty="0">
              <a:solidFill>
                <a:srgbClr val="FC5230"/>
              </a:solidFill>
              <a:latin typeface="Arial Rounded MT Bold" panose="020F0704030504030204" pitchFamily="34" charset="0"/>
              <a:ea typeface="나눔고딕" panose="020D0604000000000000" pitchFamily="50" charset="-127"/>
              <a:cs typeface="Jalnan OTF" pitchFamily="34" charset="0"/>
            </a:endParaRPr>
          </a:p>
          <a:p>
            <a:pPr algn="ctr"/>
            <a:r>
              <a:rPr lang="en-US" altLang="ko-KR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‘</a:t>
            </a:r>
            <a:r>
              <a:rPr lang="ko-KR" altLang="en-US" sz="2800" b="1" dirty="0" err="1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웨이팅</a:t>
            </a:r>
            <a:r>
              <a:rPr lang="ko-KR" altLang="en-US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 예상 대기시간</a:t>
            </a:r>
            <a:r>
              <a:rPr lang="en-US" altLang="ko-KR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’</a:t>
            </a:r>
            <a:r>
              <a:rPr lang="ko-KR" altLang="en-US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을  제공하는 </a:t>
            </a:r>
            <a:r>
              <a:rPr lang="en-US" altLang="ko-KR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App </a:t>
            </a:r>
            <a:r>
              <a:rPr lang="ko-KR" altLang="en-US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개발</a:t>
            </a:r>
            <a:endParaRPr lang="en-US" altLang="ko-KR" sz="2800" b="1" dirty="0">
              <a:solidFill>
                <a:srgbClr val="FC5230"/>
              </a:solidFill>
              <a:latin typeface="Arial Rounded MT Bold" panose="020F0704030504030204" pitchFamily="34" charset="0"/>
              <a:ea typeface="나눔고딕" panose="020D0604000000000000" pitchFamily="50" charset="-127"/>
              <a:cs typeface="Jalnan OTF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4512" y="1350187"/>
            <a:ext cx="116523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1-1</a:t>
            </a:r>
            <a:endParaRPr 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624512" y="2949464"/>
            <a:ext cx="4617491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b="1" dirty="0">
                <a:solidFill>
                  <a:srgbClr val="3B3B3B"/>
                </a:solidFill>
                <a:latin typeface="S-Core Dream 6 Bold" pitchFamily="34" charset="0"/>
              </a:rPr>
              <a:t>“ </a:t>
            </a:r>
            <a:r>
              <a:rPr lang="ko-KR" altLang="en-US" b="1" dirty="0">
                <a:solidFill>
                  <a:srgbClr val="3B3B3B"/>
                </a:solidFill>
                <a:latin typeface="S-Core Dream 6 Bold" pitchFamily="34" charset="0"/>
              </a:rPr>
              <a:t>공강 한 시간</a:t>
            </a:r>
            <a:r>
              <a:rPr lang="en-US" altLang="ko-KR" b="1" dirty="0">
                <a:solidFill>
                  <a:srgbClr val="3B3B3B"/>
                </a:solidFill>
                <a:latin typeface="S-Core Dream 6 Bold" pitchFamily="34" charset="0"/>
              </a:rPr>
              <a:t>, </a:t>
            </a:r>
            <a:r>
              <a:rPr lang="ko-KR" altLang="en-US" b="1" dirty="0">
                <a:solidFill>
                  <a:srgbClr val="3B3B3B"/>
                </a:solidFill>
                <a:latin typeface="S-Core Dream 6 Bold" pitchFamily="34" charset="0"/>
              </a:rPr>
              <a:t>점심은 어디서 먹지</a:t>
            </a:r>
            <a:r>
              <a:rPr lang="en-US" altLang="ko-KR" b="1" dirty="0">
                <a:solidFill>
                  <a:srgbClr val="3B3B3B"/>
                </a:solidFill>
                <a:latin typeface="S-Core Dream 6 Bold" pitchFamily="34" charset="0"/>
              </a:rPr>
              <a:t>? ”</a:t>
            </a:r>
            <a:endParaRPr lang="en-US" b="1" dirty="0"/>
          </a:p>
        </p:txBody>
      </p:sp>
      <p:sp>
        <p:nvSpPr>
          <p:cNvPr id="16" name="Object 16"/>
          <p:cNvSpPr txBox="1"/>
          <p:nvPr/>
        </p:nvSpPr>
        <p:spPr>
          <a:xfrm>
            <a:off x="624512" y="3528159"/>
            <a:ext cx="8464314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1400" i="1" dirty="0">
                <a:solidFill>
                  <a:srgbClr val="3B3B3B"/>
                </a:solidFill>
                <a:latin typeface="S-Core Dream 3 Light" pitchFamily="34" charset="0"/>
                <a:cs typeface="S-Core Dream 3 Light" pitchFamily="34" charset="0"/>
              </a:rPr>
              <a:t>오전 수업 후 배고픈 점심 시간마다</a:t>
            </a:r>
            <a:r>
              <a:rPr lang="en-US" altLang="ko-KR" sz="1400" i="1" dirty="0">
                <a:solidFill>
                  <a:srgbClr val="3B3B3B"/>
                </a:solidFill>
                <a:latin typeface="S-Core Dream 3 Light" pitchFamily="34" charset="0"/>
                <a:cs typeface="S-Core Dream 3 Light" pitchFamily="34" charset="0"/>
              </a:rPr>
              <a:t>,</a:t>
            </a:r>
          </a:p>
          <a:p>
            <a:r>
              <a:rPr lang="ko-KR" altLang="en-US" sz="1400" i="1" dirty="0">
                <a:solidFill>
                  <a:srgbClr val="3B3B3B"/>
                </a:solidFill>
                <a:latin typeface="S-Core Dream 3 Light" pitchFamily="34" charset="0"/>
                <a:cs typeface="S-Core Dream 3 Light" pitchFamily="34" charset="0"/>
              </a:rPr>
              <a:t>힘겹게 정해 찾아간 식당에는 </a:t>
            </a:r>
            <a:r>
              <a:rPr lang="ko-KR" altLang="en-US" sz="1400" b="1" i="1" dirty="0">
                <a:solidFill>
                  <a:srgbClr val="3B3B3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  <a:cs typeface="S-Core Dream 3 Light" pitchFamily="34" charset="0"/>
              </a:rPr>
              <a:t>언제 사라질 지 알 수 없는 줄</a:t>
            </a:r>
            <a:r>
              <a:rPr lang="ko-KR" altLang="en-US" sz="1400" i="1" dirty="0">
                <a:solidFill>
                  <a:srgbClr val="3B3B3B"/>
                </a:solidFill>
                <a:latin typeface="S-Core Dream 3 Light" pitchFamily="34" charset="0"/>
                <a:cs typeface="S-Core Dream 3 Light" pitchFamily="34" charset="0"/>
              </a:rPr>
              <a:t>이 늘어서 있었다</a:t>
            </a:r>
            <a:r>
              <a:rPr lang="en-US" altLang="ko-KR" sz="1400" i="1" dirty="0">
                <a:solidFill>
                  <a:srgbClr val="3B3B3B"/>
                </a:solidFill>
                <a:latin typeface="S-Core Dream 3 Light" pitchFamily="34" charset="0"/>
                <a:cs typeface="S-Core Dream 3 Light" pitchFamily="34" charset="0"/>
              </a:rPr>
              <a:t>.</a:t>
            </a:r>
            <a:endParaRPr lang="en-US" sz="1400" i="1" dirty="0"/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98948C58-A025-DEC8-7118-9632BB095B75}"/>
              </a:ext>
            </a:extLst>
          </p:cNvPr>
          <p:cNvSpPr txBox="1"/>
          <p:nvPr/>
        </p:nvSpPr>
        <p:spPr>
          <a:xfrm>
            <a:off x="617772" y="4186180"/>
            <a:ext cx="9458649" cy="1463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ko-KR" altLang="en-US" sz="2400" b="1" spc="-150" dirty="0">
                <a:solidFill>
                  <a:srgbClr val="3B3B3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식당에  직접  가지  않더라도</a:t>
            </a:r>
            <a:r>
              <a:rPr lang="en-US" altLang="ko-KR" sz="2400" b="1" spc="-150" dirty="0">
                <a:solidFill>
                  <a:srgbClr val="3B3B3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,</a:t>
            </a:r>
            <a:r>
              <a:rPr lang="ko-KR" altLang="en-US" sz="2400" b="1" spc="-150" dirty="0">
                <a:solidFill>
                  <a:srgbClr val="3B3B3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 </a:t>
            </a:r>
            <a:endParaRPr lang="en-US" altLang="ko-KR" sz="2400" b="1" spc="-150" dirty="0">
              <a:solidFill>
                <a:srgbClr val="3B3B3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-Core Dream 3 Light" pitchFamily="34" charset="0"/>
            </a:endParaRPr>
          </a:p>
          <a:p>
            <a:pPr algn="ctr">
              <a:lnSpc>
                <a:spcPct val="200000"/>
              </a:lnSpc>
            </a:pPr>
            <a:r>
              <a:rPr lang="ko-KR" altLang="en-US" sz="2400" b="1" spc="-150" dirty="0">
                <a:solidFill>
                  <a:srgbClr val="3B3B3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얼마나  기다려야  하는지  미리  알  수  있다면</a:t>
            </a:r>
            <a:r>
              <a:rPr lang="en-US" altLang="ko-KR" sz="2400" b="1" spc="-150" dirty="0">
                <a:solidFill>
                  <a:srgbClr val="3B3B3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?</a:t>
            </a:r>
          </a:p>
        </p:txBody>
      </p:sp>
      <p:grpSp>
        <p:nvGrpSpPr>
          <p:cNvPr id="24" name="그룹 1004">
            <a:extLst>
              <a:ext uri="{FF2B5EF4-FFF2-40B4-BE49-F238E27FC236}">
                <a16:creationId xmlns:a16="http://schemas.microsoft.com/office/drawing/2014/main" id="{BE3EB11F-4FED-6BD5-D441-5BD286714CC0}"/>
              </a:ext>
            </a:extLst>
          </p:cNvPr>
          <p:cNvGrpSpPr/>
          <p:nvPr/>
        </p:nvGrpSpPr>
        <p:grpSpPr>
          <a:xfrm>
            <a:off x="618962" y="6600825"/>
            <a:ext cx="9458649" cy="14513"/>
            <a:chOff x="618295" y="5875437"/>
            <a:chExt cx="9458649" cy="14513"/>
          </a:xfrm>
          <a:solidFill>
            <a:schemeClr val="tx1">
              <a:lumMod val="85000"/>
              <a:lumOff val="15000"/>
            </a:schemeClr>
          </a:solidFill>
        </p:grpSpPr>
        <p:pic>
          <p:nvPicPr>
            <p:cNvPr id="25" name="Object 25">
              <a:extLst>
                <a:ext uri="{FF2B5EF4-FFF2-40B4-BE49-F238E27FC236}">
                  <a16:creationId xmlns:a16="http://schemas.microsoft.com/office/drawing/2014/main" id="{D6A994C6-BBE0-8EF8-155F-30C808AF0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295" y="5875437"/>
              <a:ext cx="9458649" cy="14513"/>
            </a:xfrm>
            <a:prstGeom prst="rect">
              <a:avLst/>
            </a:prstGeom>
            <a:grpFill/>
          </p:spPr>
        </p:pic>
      </p:grpSp>
      <p:grpSp>
        <p:nvGrpSpPr>
          <p:cNvPr id="36" name="그룹 1002">
            <a:extLst>
              <a:ext uri="{FF2B5EF4-FFF2-40B4-BE49-F238E27FC236}">
                <a16:creationId xmlns:a16="http://schemas.microsoft.com/office/drawing/2014/main" id="{E7523BA5-1BC8-B9DA-BCC8-F592144F0F04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37" name="Object 8">
              <a:extLst>
                <a:ext uri="{FF2B5EF4-FFF2-40B4-BE49-F238E27FC236}">
                  <a16:creationId xmlns:a16="http://schemas.microsoft.com/office/drawing/2014/main" id="{CAECA961-7237-679B-A9A3-6923E08D0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1BCB017B-9A7F-D854-45BA-29586693D6CC}"/>
              </a:ext>
            </a:extLst>
          </p:cNvPr>
          <p:cNvGrpSpPr/>
          <p:nvPr/>
        </p:nvGrpSpPr>
        <p:grpSpPr>
          <a:xfrm>
            <a:off x="690237" y="284161"/>
            <a:ext cx="1780680" cy="598752"/>
            <a:chOff x="690237" y="284161"/>
            <a:chExt cx="1780680" cy="598752"/>
          </a:xfrm>
        </p:grpSpPr>
        <p:grpSp>
          <p:nvGrpSpPr>
            <p:cNvPr id="38" name="그룹 1003">
              <a:extLst>
                <a:ext uri="{FF2B5EF4-FFF2-40B4-BE49-F238E27FC236}">
                  <a16:creationId xmlns:a16="http://schemas.microsoft.com/office/drawing/2014/main" id="{705247BB-3A3F-960D-657F-E17B038C04A1}"/>
                </a:ext>
              </a:extLst>
            </p:cNvPr>
            <p:cNvGrpSpPr/>
            <p:nvPr/>
          </p:nvGrpSpPr>
          <p:grpSpPr>
            <a:xfrm>
              <a:off x="706521" y="809625"/>
              <a:ext cx="1744063" cy="73288"/>
              <a:chOff x="2294344" y="3800952"/>
              <a:chExt cx="1342815" cy="73288"/>
            </a:xfrm>
          </p:grpSpPr>
          <p:pic>
            <p:nvPicPr>
              <p:cNvPr id="39" name="Object 11">
                <a:extLst>
                  <a:ext uri="{FF2B5EF4-FFF2-40B4-BE49-F238E27FC236}">
                    <a16:creationId xmlns:a16="http://schemas.microsoft.com/office/drawing/2014/main" id="{97981414-5D3A-72BA-3EDE-9892327449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2294344" y="3800952"/>
                <a:ext cx="1342815" cy="73288"/>
              </a:xfrm>
              <a:prstGeom prst="rect">
                <a:avLst/>
              </a:prstGeom>
            </p:spPr>
          </p:pic>
        </p:grpSp>
        <p:sp>
          <p:nvSpPr>
            <p:cNvPr id="41" name="Object 4">
              <a:extLst>
                <a:ext uri="{FF2B5EF4-FFF2-40B4-BE49-F238E27FC236}">
                  <a16:creationId xmlns:a16="http://schemas.microsoft.com/office/drawing/2014/main" id="{02789AB3-25F7-8B8D-0CDF-8E9C76DFE656}"/>
                </a:ext>
              </a:extLst>
            </p:cNvPr>
            <p:cNvSpPr txBox="1"/>
            <p:nvPr/>
          </p:nvSpPr>
          <p:spPr>
            <a:xfrm>
              <a:off x="690237" y="284161"/>
              <a:ext cx="1780680" cy="52322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r>
                <a:rPr lang="en-US" altLang="ko-KR" sz="1400" dirty="0">
                  <a:solidFill>
                    <a:srgbClr val="FC5230"/>
                  </a:solidFill>
                  <a:latin typeface="Jalnan OTF" pitchFamily="34" charset="0"/>
                  <a:cs typeface="Jalnan OTF" pitchFamily="34" charset="0"/>
                </a:rPr>
                <a:t>01</a:t>
              </a:r>
              <a:endParaRPr lang="en-US" altLang="ko-KR" sz="1400" dirty="0"/>
            </a:p>
            <a:p>
              <a:r>
                <a:rPr lang="en-US" sz="1400" b="1" dirty="0">
                  <a:solidFill>
                    <a:srgbClr val="3B3B3B"/>
                  </a:solidFill>
                  <a:latin typeface="S-Core Dream 6 Bold" pitchFamily="34" charset="0"/>
                  <a:cs typeface="S-Core Dream 6 Bold" pitchFamily="34" charset="0"/>
                </a:rPr>
                <a:t>Introduction</a:t>
              </a:r>
            </a:p>
          </p:txBody>
        </p:sp>
      </p:grpSp>
      <p:grpSp>
        <p:nvGrpSpPr>
          <p:cNvPr id="48" name="그룹 1001">
            <a:extLst>
              <a:ext uri="{FF2B5EF4-FFF2-40B4-BE49-F238E27FC236}">
                <a16:creationId xmlns:a16="http://schemas.microsoft.com/office/drawing/2014/main" id="{4CF6DF35-2F75-F579-8A0C-D1F4656899B6}"/>
              </a:ext>
            </a:extLst>
          </p:cNvPr>
          <p:cNvGrpSpPr/>
          <p:nvPr/>
        </p:nvGrpSpPr>
        <p:grpSpPr>
          <a:xfrm>
            <a:off x="1210283" y="1550686"/>
            <a:ext cx="1242404" cy="20939"/>
            <a:chOff x="1063081" y="1518058"/>
            <a:chExt cx="1242404" cy="20939"/>
          </a:xfrm>
        </p:grpSpPr>
        <p:pic>
          <p:nvPicPr>
            <p:cNvPr id="49" name="Object 5">
              <a:extLst>
                <a:ext uri="{FF2B5EF4-FFF2-40B4-BE49-F238E27FC236}">
                  <a16:creationId xmlns:a16="http://schemas.microsoft.com/office/drawing/2014/main" id="{7D6D38ED-2C70-1D5F-3D2C-AD25C8AAB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0800000">
              <a:off x="1063081" y="1518058"/>
              <a:ext cx="1242404" cy="2093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bject 29"/>
          <p:cNvSpPr txBox="1"/>
          <p:nvPr/>
        </p:nvSpPr>
        <p:spPr>
          <a:xfrm>
            <a:off x="2308041" y="5234252"/>
            <a:ext cx="1080000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FC5230"/>
                </a:solidFill>
                <a:latin typeface="S-Core Dream 6 Bold" pitchFamily="34" charset="0"/>
              </a:rPr>
              <a:t>이동훈</a:t>
            </a:r>
            <a:endParaRPr lang="en-US" sz="2000" b="1" dirty="0"/>
          </a:p>
        </p:txBody>
      </p:sp>
      <p:sp>
        <p:nvSpPr>
          <p:cNvPr id="31" name="Object 31"/>
          <p:cNvSpPr txBox="1"/>
          <p:nvPr/>
        </p:nvSpPr>
        <p:spPr>
          <a:xfrm>
            <a:off x="6360893" y="5240334"/>
            <a:ext cx="2095701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FC5230"/>
                </a:solidFill>
                <a:latin typeface="S-Core Dream 6 Bold" pitchFamily="34" charset="0"/>
              </a:rPr>
              <a:t>김혁</a:t>
            </a:r>
            <a:r>
              <a:rPr lang="en-US" altLang="ko-KR" sz="2000" b="1" dirty="0">
                <a:solidFill>
                  <a:srgbClr val="FC5230"/>
                </a:solidFill>
                <a:latin typeface="S-Core Dream 6 Bold" pitchFamily="34" charset="0"/>
              </a:rPr>
              <a:t>  &amp;  </a:t>
            </a:r>
            <a:r>
              <a:rPr lang="ko-KR" altLang="en-US" sz="2000" b="1" dirty="0" err="1">
                <a:solidFill>
                  <a:srgbClr val="FC5230"/>
                </a:solidFill>
                <a:latin typeface="S-Core Dream 6 Bold" pitchFamily="34" charset="0"/>
              </a:rPr>
              <a:t>전성권</a:t>
            </a:r>
            <a:endParaRPr lang="en-US" sz="2000" b="1" dirty="0"/>
          </a:p>
        </p:txBody>
      </p:sp>
      <p:grpSp>
        <p:nvGrpSpPr>
          <p:cNvPr id="41" name="그룹 1004">
            <a:extLst>
              <a:ext uri="{FF2B5EF4-FFF2-40B4-BE49-F238E27FC236}">
                <a16:creationId xmlns:a16="http://schemas.microsoft.com/office/drawing/2014/main" id="{BE3EB11F-4FED-6BD5-D441-5BD286714CC0}"/>
              </a:ext>
            </a:extLst>
          </p:cNvPr>
          <p:cNvGrpSpPr/>
          <p:nvPr/>
        </p:nvGrpSpPr>
        <p:grpSpPr>
          <a:xfrm>
            <a:off x="618962" y="6600825"/>
            <a:ext cx="9458649" cy="14513"/>
            <a:chOff x="618295" y="5875437"/>
            <a:chExt cx="9458649" cy="14513"/>
          </a:xfrm>
          <a:solidFill>
            <a:schemeClr val="tx1">
              <a:lumMod val="85000"/>
              <a:lumOff val="15000"/>
            </a:schemeClr>
          </a:solidFill>
        </p:grpSpPr>
        <p:pic>
          <p:nvPicPr>
            <p:cNvPr id="42" name="Object 25">
              <a:extLst>
                <a:ext uri="{FF2B5EF4-FFF2-40B4-BE49-F238E27FC236}">
                  <a16:creationId xmlns:a16="http://schemas.microsoft.com/office/drawing/2014/main" id="{D6A994C6-BBE0-8EF8-155F-30C808AF0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295" y="5875437"/>
              <a:ext cx="9458649" cy="14513"/>
            </a:xfrm>
            <a:prstGeom prst="rect">
              <a:avLst/>
            </a:prstGeom>
            <a:grpFill/>
          </p:spPr>
        </p:pic>
      </p:grpSp>
      <p:grpSp>
        <p:nvGrpSpPr>
          <p:cNvPr id="4" name="그룹 1002">
            <a:extLst>
              <a:ext uri="{FF2B5EF4-FFF2-40B4-BE49-F238E27FC236}">
                <a16:creationId xmlns:a16="http://schemas.microsoft.com/office/drawing/2014/main" id="{20CB5827-4011-BFF8-6709-095DBEF489F2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6" name="Object 8">
              <a:extLst>
                <a:ext uri="{FF2B5EF4-FFF2-40B4-BE49-F238E27FC236}">
                  <a16:creationId xmlns:a16="http://schemas.microsoft.com/office/drawing/2014/main" id="{95A11E58-088B-942E-FB0A-3BCD92AFAF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grpSp>
        <p:nvGrpSpPr>
          <p:cNvPr id="8" name="그룹 1003">
            <a:extLst>
              <a:ext uri="{FF2B5EF4-FFF2-40B4-BE49-F238E27FC236}">
                <a16:creationId xmlns:a16="http://schemas.microsoft.com/office/drawing/2014/main" id="{7B8214E9-FCEF-AE1A-5301-FE8531683861}"/>
              </a:ext>
            </a:extLst>
          </p:cNvPr>
          <p:cNvGrpSpPr/>
          <p:nvPr/>
        </p:nvGrpSpPr>
        <p:grpSpPr>
          <a:xfrm>
            <a:off x="706521" y="809625"/>
            <a:ext cx="1744063" cy="73288"/>
            <a:chOff x="2294344" y="3800952"/>
            <a:chExt cx="1342815" cy="73288"/>
          </a:xfrm>
        </p:grpSpPr>
        <p:pic>
          <p:nvPicPr>
            <p:cNvPr id="9" name="Object 11">
              <a:extLst>
                <a:ext uri="{FF2B5EF4-FFF2-40B4-BE49-F238E27FC236}">
                  <a16:creationId xmlns:a16="http://schemas.microsoft.com/office/drawing/2014/main" id="{C7000224-BE8D-28FD-8D33-B8B47CABC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  <p:sp>
        <p:nvSpPr>
          <p:cNvPr id="10" name="Object 4">
            <a:extLst>
              <a:ext uri="{FF2B5EF4-FFF2-40B4-BE49-F238E27FC236}">
                <a16:creationId xmlns:a16="http://schemas.microsoft.com/office/drawing/2014/main" id="{1821B042-3D2D-7981-DD8D-789A9ACB5389}"/>
              </a:ext>
            </a:extLst>
          </p:cNvPr>
          <p:cNvSpPr txBox="1"/>
          <p:nvPr/>
        </p:nvSpPr>
        <p:spPr>
          <a:xfrm>
            <a:off x="690237" y="284161"/>
            <a:ext cx="178068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01</a:t>
            </a:r>
            <a:endParaRPr lang="en-US" altLang="ko-KR" sz="1400" dirty="0"/>
          </a:p>
          <a:p>
            <a:r>
              <a:rPr lang="en-US" sz="1400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Introduction</a:t>
            </a:r>
          </a:p>
        </p:txBody>
      </p:sp>
      <p:sp>
        <p:nvSpPr>
          <p:cNvPr id="19" name="Object 2">
            <a:extLst>
              <a:ext uri="{FF2B5EF4-FFF2-40B4-BE49-F238E27FC236}">
                <a16:creationId xmlns:a16="http://schemas.microsoft.com/office/drawing/2014/main" id="{18C519BA-D09B-362A-4FF0-0DC4C9986CA3}"/>
              </a:ext>
            </a:extLst>
          </p:cNvPr>
          <p:cNvSpPr txBox="1"/>
          <p:nvPr/>
        </p:nvSpPr>
        <p:spPr>
          <a:xfrm>
            <a:off x="624512" y="1671162"/>
            <a:ext cx="183593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역할 분담</a:t>
            </a:r>
            <a:endParaRPr lang="en-US" altLang="ko-KR" sz="2800" b="1" dirty="0">
              <a:solidFill>
                <a:srgbClr val="FC5230"/>
              </a:solidFill>
              <a:latin typeface="Arial Rounded MT Bold" panose="020F0704030504030204" pitchFamily="34" charset="0"/>
              <a:ea typeface="나눔고딕" panose="020D0604000000000000" pitchFamily="50" charset="-127"/>
              <a:cs typeface="Jalnan OTF" pitchFamily="34" charset="0"/>
            </a:endParaRP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C257B4F0-A43D-FC10-CDA4-ACCC39E44B7E}"/>
              </a:ext>
            </a:extLst>
          </p:cNvPr>
          <p:cNvSpPr txBox="1"/>
          <p:nvPr/>
        </p:nvSpPr>
        <p:spPr>
          <a:xfrm>
            <a:off x="624512" y="1350187"/>
            <a:ext cx="116523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1-2</a:t>
            </a:r>
            <a:endParaRPr lang="en-US" dirty="0"/>
          </a:p>
        </p:txBody>
      </p:sp>
      <p:grpSp>
        <p:nvGrpSpPr>
          <p:cNvPr id="22" name="그룹 1001">
            <a:extLst>
              <a:ext uri="{FF2B5EF4-FFF2-40B4-BE49-F238E27FC236}">
                <a16:creationId xmlns:a16="http://schemas.microsoft.com/office/drawing/2014/main" id="{B1117B2A-B7AA-8698-737E-21D02A04320C}"/>
              </a:ext>
            </a:extLst>
          </p:cNvPr>
          <p:cNvGrpSpPr/>
          <p:nvPr/>
        </p:nvGrpSpPr>
        <p:grpSpPr>
          <a:xfrm>
            <a:off x="1210283" y="1550686"/>
            <a:ext cx="1242404" cy="20939"/>
            <a:chOff x="1063081" y="1518058"/>
            <a:chExt cx="1242404" cy="20939"/>
          </a:xfrm>
        </p:grpSpPr>
        <p:pic>
          <p:nvPicPr>
            <p:cNvPr id="23" name="Object 5">
              <a:extLst>
                <a:ext uri="{FF2B5EF4-FFF2-40B4-BE49-F238E27FC236}">
                  <a16:creationId xmlns:a16="http://schemas.microsoft.com/office/drawing/2014/main" id="{2C5581A9-347C-6849-2B60-9001B5F132D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0800000">
              <a:off x="1063081" y="1518058"/>
              <a:ext cx="1242404" cy="20939"/>
            </a:xfrm>
            <a:prstGeom prst="rect">
              <a:avLst/>
            </a:prstGeom>
          </p:spPr>
        </p:pic>
      </p:grpSp>
      <p:pic>
        <p:nvPicPr>
          <p:cNvPr id="1026" name="Picture 2" descr="Object Detection and Person Detection in Computer Vision">
            <a:extLst>
              <a:ext uri="{FF2B5EF4-FFF2-40B4-BE49-F238E27FC236}">
                <a16:creationId xmlns:a16="http://schemas.microsoft.com/office/drawing/2014/main" id="{AADB4D42-3356-CEA2-FB13-E7CC46346D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76" y="2397899"/>
            <a:ext cx="2560494" cy="161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DB4C55-64DB-6037-D9CA-656A058B40F0}"/>
              </a:ext>
            </a:extLst>
          </p:cNvPr>
          <p:cNvSpPr txBox="1"/>
          <p:nvPr/>
        </p:nvSpPr>
        <p:spPr>
          <a:xfrm>
            <a:off x="5043487" y="5855984"/>
            <a:ext cx="47293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200" dirty="0"/>
              <a:t>본래 딥러닝</a:t>
            </a:r>
            <a:r>
              <a:rPr lang="en-US" altLang="ko-KR" sz="1200" dirty="0"/>
              <a:t>, App, DB </a:t>
            </a:r>
            <a:r>
              <a:rPr lang="ko-KR" altLang="en-US" sz="1200" dirty="0"/>
              <a:t>세 파트로 나눌 예정이었으나</a:t>
            </a:r>
            <a:endParaRPr lang="en-US" altLang="ko-KR" sz="1200" dirty="0"/>
          </a:p>
          <a:p>
            <a:pPr algn="r"/>
            <a:r>
              <a:rPr lang="ko-KR" altLang="en-US" sz="1200" dirty="0"/>
              <a:t>진행하면서 </a:t>
            </a:r>
            <a:r>
              <a:rPr lang="en-US" altLang="ko-KR" sz="1200" dirty="0"/>
              <a:t>App</a:t>
            </a:r>
            <a:r>
              <a:rPr lang="ko-KR" altLang="en-US" sz="1200" dirty="0"/>
              <a:t>과 </a:t>
            </a:r>
            <a:r>
              <a:rPr lang="en-US" altLang="ko-KR" sz="1200" dirty="0"/>
              <a:t>DB</a:t>
            </a:r>
            <a:r>
              <a:rPr lang="ko-KR" altLang="en-US" sz="1200" dirty="0"/>
              <a:t>는 사실상 같이 개발해야 했기에 묶음</a:t>
            </a:r>
            <a:r>
              <a:rPr lang="en-US" altLang="ko-KR" sz="1200" dirty="0"/>
              <a:t>.</a:t>
            </a:r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0C1FAB0C-E23D-6A12-D8AE-7F55A72C2C9B}"/>
              </a:ext>
            </a:extLst>
          </p:cNvPr>
          <p:cNvSpPr txBox="1"/>
          <p:nvPr/>
        </p:nvSpPr>
        <p:spPr>
          <a:xfrm>
            <a:off x="1462087" y="4639528"/>
            <a:ext cx="2771909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Deep</a:t>
            </a:r>
            <a:r>
              <a:rPr lang="ko-KR" alt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Learning</a:t>
            </a:r>
            <a:r>
              <a:rPr lang="ko-KR" altLang="en-US" sz="2000" b="1" dirty="0">
                <a:solidFill>
                  <a:srgbClr val="FC52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  </a:t>
            </a:r>
            <a:endParaRPr lang="en-US" altLang="ko-KR" sz="2000" b="1" dirty="0">
              <a:solidFill>
                <a:srgbClr val="FC52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-Core Dream 3 Light" pitchFamily="34" charset="0"/>
            </a:endParaRPr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DCE56446-4499-6C97-41AB-034A6AA5B2B5}"/>
              </a:ext>
            </a:extLst>
          </p:cNvPr>
          <p:cNvSpPr txBox="1"/>
          <p:nvPr/>
        </p:nvSpPr>
        <p:spPr>
          <a:xfrm>
            <a:off x="5881687" y="4639528"/>
            <a:ext cx="305411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App &amp; DB</a:t>
            </a:r>
            <a:r>
              <a:rPr lang="ko-KR" altLang="en-US" sz="2000" b="1" dirty="0">
                <a:solidFill>
                  <a:srgbClr val="FC523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3 Light" pitchFamily="34" charset="0"/>
              </a:rPr>
              <a:t>  </a:t>
            </a:r>
            <a:endParaRPr lang="en-US" altLang="ko-KR" sz="2000" b="1" dirty="0">
              <a:solidFill>
                <a:srgbClr val="FC523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-Core Dream 3 Light" pitchFamily="34" charset="0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F7FF838-4C70-4411-8E01-EEF2151456E1}"/>
              </a:ext>
            </a:extLst>
          </p:cNvPr>
          <p:cNvCxnSpPr>
            <a:cxnSpLocks/>
            <a:stCxn id="11" idx="1"/>
            <a:endCxn id="29" idx="1"/>
          </p:cNvCxnSpPr>
          <p:nvPr/>
        </p:nvCxnSpPr>
        <p:spPr>
          <a:xfrm>
            <a:off x="1462087" y="4839583"/>
            <a:ext cx="845954" cy="594724"/>
          </a:xfrm>
          <a:prstGeom prst="line">
            <a:avLst/>
          </a:prstGeom>
          <a:ln w="25400">
            <a:solidFill>
              <a:srgbClr val="FC523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92BFA158-410E-4039-C2EE-6355B58E3785}"/>
              </a:ext>
            </a:extLst>
          </p:cNvPr>
          <p:cNvCxnSpPr>
            <a:cxnSpLocks/>
            <a:stCxn id="29" idx="3"/>
            <a:endCxn id="11" idx="3"/>
          </p:cNvCxnSpPr>
          <p:nvPr/>
        </p:nvCxnSpPr>
        <p:spPr>
          <a:xfrm flipV="1">
            <a:off x="3388041" y="4839583"/>
            <a:ext cx="845955" cy="594724"/>
          </a:xfrm>
          <a:prstGeom prst="line">
            <a:avLst/>
          </a:prstGeom>
          <a:ln w="25400">
            <a:solidFill>
              <a:srgbClr val="FC523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1DE4EA0B-1592-E157-44D3-E91B89B197FE}"/>
              </a:ext>
            </a:extLst>
          </p:cNvPr>
          <p:cNvCxnSpPr>
            <a:cxnSpLocks/>
            <a:stCxn id="12" idx="1"/>
            <a:endCxn id="31" idx="1"/>
          </p:cNvCxnSpPr>
          <p:nvPr/>
        </p:nvCxnSpPr>
        <p:spPr>
          <a:xfrm>
            <a:off x="5881687" y="4839583"/>
            <a:ext cx="479206" cy="600806"/>
          </a:xfrm>
          <a:prstGeom prst="line">
            <a:avLst/>
          </a:prstGeom>
          <a:ln w="25400">
            <a:solidFill>
              <a:srgbClr val="FC523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0AC32EB9-F325-6E99-7BA7-1682102EA96D}"/>
              </a:ext>
            </a:extLst>
          </p:cNvPr>
          <p:cNvCxnSpPr>
            <a:cxnSpLocks/>
            <a:stCxn id="31" idx="3"/>
            <a:endCxn id="12" idx="3"/>
          </p:cNvCxnSpPr>
          <p:nvPr/>
        </p:nvCxnSpPr>
        <p:spPr>
          <a:xfrm flipV="1">
            <a:off x="8456594" y="4839583"/>
            <a:ext cx="479208" cy="600806"/>
          </a:xfrm>
          <a:prstGeom prst="line">
            <a:avLst/>
          </a:prstGeom>
          <a:ln w="25400">
            <a:solidFill>
              <a:srgbClr val="FC523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1F6AA8C9-1281-7819-247F-205CE9C57B9E}"/>
              </a:ext>
            </a:extLst>
          </p:cNvPr>
          <p:cNvCxnSpPr>
            <a:cxnSpLocks/>
            <a:stCxn id="1034" idx="3"/>
            <a:endCxn id="7" idx="3"/>
          </p:cNvCxnSpPr>
          <p:nvPr/>
        </p:nvCxnSpPr>
        <p:spPr>
          <a:xfrm>
            <a:off x="9370505" y="3748285"/>
            <a:ext cx="402306" cy="2338532"/>
          </a:xfrm>
          <a:prstGeom prst="bentConnector3">
            <a:avLst>
              <a:gd name="adj1" fmla="val 156822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그림 49">
            <a:extLst>
              <a:ext uri="{FF2B5EF4-FFF2-40B4-BE49-F238E27FC236}">
                <a16:creationId xmlns:a16="http://schemas.microsoft.com/office/drawing/2014/main" id="{7418B593-7ABC-BC0A-FD79-BD7B1C1F8C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4459" y="3412723"/>
            <a:ext cx="1806628" cy="1029274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99152BC2-0FD2-678F-0E5F-9D91ADD464F4}"/>
              </a:ext>
            </a:extLst>
          </p:cNvPr>
          <p:cNvGrpSpPr/>
          <p:nvPr/>
        </p:nvGrpSpPr>
        <p:grpSpPr>
          <a:xfrm>
            <a:off x="5749587" y="2105025"/>
            <a:ext cx="3620918" cy="2257834"/>
            <a:chOff x="5749587" y="2105025"/>
            <a:chExt cx="3620918" cy="2257834"/>
          </a:xfrm>
        </p:grpSpPr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A1C4230C-8C10-884A-243A-A01EE344A008}"/>
                </a:ext>
              </a:extLst>
            </p:cNvPr>
            <p:cNvGrpSpPr/>
            <p:nvPr/>
          </p:nvGrpSpPr>
          <p:grpSpPr>
            <a:xfrm>
              <a:off x="5749587" y="2105025"/>
              <a:ext cx="3620918" cy="2131723"/>
              <a:chOff x="6069839" y="2116428"/>
              <a:chExt cx="3220904" cy="1896225"/>
            </a:xfrm>
          </p:grpSpPr>
          <p:pic>
            <p:nvPicPr>
              <p:cNvPr id="1030" name="Picture 6" descr="안드로이드 스튜디오] 앱,어플 만들기. 안드로이드 스튜디오로! 공부시작!">
                <a:extLst>
                  <a:ext uri="{FF2B5EF4-FFF2-40B4-BE49-F238E27FC236}">
                    <a16:creationId xmlns:a16="http://schemas.microsoft.com/office/drawing/2014/main" id="{87CDE78A-F167-3376-81DE-A8056EBA97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69839" y="2116428"/>
                <a:ext cx="1790087" cy="13297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2" name="Picture 8" descr="무료] 파이어베이스(Firebase)를 이용한 웹+안드로이드 메모 어플리케이션 만들기 - 인프런 | 강의">
                <a:extLst>
                  <a:ext uri="{FF2B5EF4-FFF2-40B4-BE49-F238E27FC236}">
                    <a16:creationId xmlns:a16="http://schemas.microsoft.com/office/drawing/2014/main" id="{960D21C3-0392-71EC-973C-58112A9864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27311" y="2131847"/>
                <a:ext cx="1263432" cy="82254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4" name="Picture 10" descr="MySQL - 나무위키">
                <a:extLst>
                  <a:ext uri="{FF2B5EF4-FFF2-40B4-BE49-F238E27FC236}">
                    <a16:creationId xmlns:a16="http://schemas.microsoft.com/office/drawing/2014/main" id="{F94FD2AB-A181-6F04-9DA7-28B2BB914B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94033" y="3143651"/>
                <a:ext cx="1296710" cy="8690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" name="Picture 2" descr="PHP - 위키백과, 우리 모두의 백과사전">
              <a:extLst>
                <a:ext uri="{FF2B5EF4-FFF2-40B4-BE49-F238E27FC236}">
                  <a16:creationId xmlns:a16="http://schemas.microsoft.com/office/drawing/2014/main" id="{B2FCB80E-0EE6-6585-06D9-7177988D71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4859" y="3681079"/>
              <a:ext cx="1262388" cy="6817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40155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Object 51"/>
          <p:cNvSpPr txBox="1"/>
          <p:nvPr/>
        </p:nvSpPr>
        <p:spPr>
          <a:xfrm>
            <a:off x="624511" y="2828933"/>
            <a:ext cx="4121350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dirty="0">
                <a:solidFill>
                  <a:srgbClr val="3B3B3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-Core Dream 6 Bold" pitchFamily="34" charset="0"/>
              </a:rPr>
              <a:t>YOLO : You Only Look once</a:t>
            </a:r>
          </a:p>
          <a:p>
            <a:r>
              <a:rPr lang="en-US" sz="1600" dirty="0">
                <a:solidFill>
                  <a:srgbClr val="3B3B3B"/>
                </a:solidFill>
                <a:latin typeface="S-Core Dream 6 Bold" pitchFamily="34" charset="0"/>
              </a:rPr>
              <a:t>Object detection</a:t>
            </a:r>
            <a:endParaRPr lang="en-US" sz="1600" dirty="0"/>
          </a:p>
        </p:txBody>
      </p:sp>
      <p:sp>
        <p:nvSpPr>
          <p:cNvPr id="52" name="Object 52"/>
          <p:cNvSpPr txBox="1"/>
          <p:nvPr/>
        </p:nvSpPr>
        <p:spPr>
          <a:xfrm>
            <a:off x="624510" y="3754636"/>
            <a:ext cx="4121353" cy="25083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spcAft>
                <a:spcPts val="800"/>
              </a:spcAft>
              <a:buFontTx/>
              <a:buChar char="-"/>
            </a:pPr>
            <a:r>
              <a:rPr lang="ko-KR" altLang="en-US" sz="1700" dirty="0"/>
              <a:t>객체탐지</a:t>
            </a:r>
            <a:r>
              <a:rPr lang="en-US" altLang="ko-KR" sz="1700" dirty="0"/>
              <a:t>(object detection)</a:t>
            </a:r>
            <a:r>
              <a:rPr lang="ko-KR" altLang="en-US" sz="1700" dirty="0"/>
              <a:t>목적의 모델</a:t>
            </a:r>
            <a:endParaRPr lang="en-US" altLang="ko-KR" sz="1700" dirty="0"/>
          </a:p>
          <a:p>
            <a:pPr marL="285750" indent="-285750">
              <a:spcAft>
                <a:spcPts val="800"/>
              </a:spcAft>
              <a:buFontTx/>
              <a:buChar char="-"/>
            </a:pPr>
            <a:r>
              <a:rPr lang="ko-KR" altLang="en-US" sz="1700" dirty="0"/>
              <a:t>다른 모델에 비해 빠른 처리 속도</a:t>
            </a:r>
            <a:endParaRPr lang="en-US" altLang="ko-KR" sz="1700" dirty="0"/>
          </a:p>
          <a:p>
            <a:pPr marL="742950" lvl="1" indent="-285750">
              <a:spcAft>
                <a:spcPts val="800"/>
              </a:spcAft>
              <a:buFont typeface="Symbol" panose="05050102010706020507" pitchFamily="18" charset="2"/>
              <a:buChar char="Þ"/>
            </a:pPr>
            <a:r>
              <a:rPr lang="ko-KR" altLang="en-US" sz="1300" b="1" dirty="0">
                <a:solidFill>
                  <a:srgbClr val="002060"/>
                </a:solidFill>
              </a:rPr>
              <a:t>실시간 객체 탐지에 적합한 모델</a:t>
            </a:r>
            <a:r>
              <a:rPr lang="en-US" altLang="ko-KR" sz="1300" b="1" dirty="0">
                <a:solidFill>
                  <a:srgbClr val="002060"/>
                </a:solidFill>
              </a:rPr>
              <a:t>.</a:t>
            </a:r>
          </a:p>
          <a:p>
            <a:pPr>
              <a:spcAft>
                <a:spcPts val="800"/>
              </a:spcAft>
            </a:pPr>
            <a:endParaRPr lang="en-US" altLang="ko-KR" sz="1400" b="1" dirty="0">
              <a:solidFill>
                <a:srgbClr val="002060"/>
              </a:solidFill>
            </a:endParaRPr>
          </a:p>
          <a:p>
            <a:pPr marL="285750" indent="-285750">
              <a:spcAft>
                <a:spcPts val="800"/>
              </a:spcAft>
              <a:buFontTx/>
              <a:buChar char="-"/>
            </a:pPr>
            <a:r>
              <a:rPr lang="en-US" altLang="ko-KR" sz="1700" dirty="0"/>
              <a:t>YOLO Version 5</a:t>
            </a:r>
            <a:r>
              <a:rPr lang="ko-KR" altLang="en-US" sz="1700" dirty="0"/>
              <a:t> 사용</a:t>
            </a:r>
            <a:endParaRPr lang="en-US" altLang="ko-KR" sz="1700" dirty="0"/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ko-KR" sz="1300" dirty="0"/>
              <a:t>Yolov5x</a:t>
            </a:r>
            <a:r>
              <a:rPr lang="ko-KR" altLang="en-US" sz="1300" dirty="0"/>
              <a:t> </a:t>
            </a:r>
            <a:r>
              <a:rPr lang="en-US" altLang="ko-KR" sz="1300" dirty="0"/>
              <a:t>: </a:t>
            </a:r>
            <a:r>
              <a:rPr lang="ko-KR" altLang="en-US" sz="1300" dirty="0"/>
              <a:t>가장 </a:t>
            </a:r>
            <a:r>
              <a:rPr lang="en-US" altLang="ko-KR" sz="1300" dirty="0"/>
              <a:t>layer</a:t>
            </a:r>
            <a:r>
              <a:rPr lang="ko-KR" altLang="en-US" sz="1300" dirty="0"/>
              <a:t>의 규모와 밀도가 큰 모델이며</a:t>
            </a:r>
            <a:r>
              <a:rPr lang="en-US" altLang="ko-KR" sz="1300" dirty="0"/>
              <a:t>, </a:t>
            </a:r>
            <a:r>
              <a:rPr lang="ko-KR" altLang="en-US" sz="1300" dirty="0"/>
              <a:t>정확도도 가장 높음</a:t>
            </a:r>
            <a:r>
              <a:rPr lang="en-US" altLang="ko-KR" sz="1300" dirty="0"/>
              <a:t>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ko-KR" altLang="en-US" sz="13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E1959F8-CC61-A15A-8535-1671E89F7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3039" y="3969808"/>
            <a:ext cx="4969026" cy="276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재미있는 인공지능 활용 사례 : 네이버 포스트">
            <a:extLst>
              <a:ext uri="{FF2B5EF4-FFF2-40B4-BE49-F238E27FC236}">
                <a16:creationId xmlns:a16="http://schemas.microsoft.com/office/drawing/2014/main" id="{F07FAEB8-405E-255A-0233-740AE02F0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8581" y="1038677"/>
            <a:ext cx="3967784" cy="2539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그룹 1004">
            <a:extLst>
              <a:ext uri="{FF2B5EF4-FFF2-40B4-BE49-F238E27FC236}">
                <a16:creationId xmlns:a16="http://schemas.microsoft.com/office/drawing/2014/main" id="{7CFD9C4B-8A19-629A-DC74-3528848410E0}"/>
              </a:ext>
            </a:extLst>
          </p:cNvPr>
          <p:cNvGrpSpPr/>
          <p:nvPr/>
        </p:nvGrpSpPr>
        <p:grpSpPr>
          <a:xfrm>
            <a:off x="5235786" y="3578059"/>
            <a:ext cx="4842606" cy="45719"/>
            <a:chOff x="618295" y="5875437"/>
            <a:chExt cx="9458649" cy="14513"/>
          </a:xfrm>
          <a:solidFill>
            <a:schemeClr val="tx1">
              <a:lumMod val="85000"/>
              <a:lumOff val="15000"/>
            </a:schemeClr>
          </a:solidFill>
        </p:grpSpPr>
        <p:pic>
          <p:nvPicPr>
            <p:cNvPr id="22" name="Object 25">
              <a:extLst>
                <a:ext uri="{FF2B5EF4-FFF2-40B4-BE49-F238E27FC236}">
                  <a16:creationId xmlns:a16="http://schemas.microsoft.com/office/drawing/2014/main" id="{41360C83-20F9-4230-7108-D93896E21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8295" y="5875437"/>
              <a:ext cx="9458649" cy="14513"/>
            </a:xfrm>
            <a:prstGeom prst="rect">
              <a:avLst/>
            </a:prstGeom>
            <a:grpFill/>
          </p:spPr>
        </p:pic>
      </p:grpSp>
      <p:cxnSp>
        <p:nvCxnSpPr>
          <p:cNvPr id="7" name="직선 연결선 6"/>
          <p:cNvCxnSpPr/>
          <p:nvPr/>
        </p:nvCxnSpPr>
        <p:spPr>
          <a:xfrm>
            <a:off x="395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cxnSpLocks/>
          </p:cNvCxnSpPr>
          <p:nvPr/>
        </p:nvCxnSpPr>
        <p:spPr>
          <a:xfrm>
            <a:off x="4975089" y="1528528"/>
            <a:ext cx="0" cy="5453297"/>
          </a:xfrm>
          <a:prstGeom prst="line">
            <a:avLst/>
          </a:prstGeom>
          <a:ln w="15240" cmpd="sng">
            <a:solidFill>
              <a:srgbClr val="FC52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bject 52"/>
          <p:cNvSpPr txBox="1"/>
          <p:nvPr/>
        </p:nvSpPr>
        <p:spPr>
          <a:xfrm>
            <a:off x="624514" y="2283738"/>
            <a:ext cx="4121348" cy="2923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  <a:r>
              <a:rPr lang="ko-KR" altLang="en-US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데이터를 학습하여 스스로 객체를 식별하는 기술</a:t>
            </a:r>
            <a:r>
              <a:rPr lang="en-US" altLang="ko-KR" sz="1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‘</a:t>
            </a:r>
          </a:p>
        </p:txBody>
      </p:sp>
      <p:grpSp>
        <p:nvGrpSpPr>
          <p:cNvPr id="14" name="그룹 1002">
            <a:extLst>
              <a:ext uri="{FF2B5EF4-FFF2-40B4-BE49-F238E27FC236}">
                <a16:creationId xmlns:a16="http://schemas.microsoft.com/office/drawing/2014/main" id="{E63ACCEA-4DE2-F2B7-5F4A-21F96DCB11B6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04AB7DE4-54F9-7F67-C173-79C881257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sp>
        <p:nvSpPr>
          <p:cNvPr id="24" name="Object 4">
            <a:extLst>
              <a:ext uri="{FF2B5EF4-FFF2-40B4-BE49-F238E27FC236}">
                <a16:creationId xmlns:a16="http://schemas.microsoft.com/office/drawing/2014/main" id="{95602444-5CB3-92D2-7CCA-ACCC35F355E5}"/>
              </a:ext>
            </a:extLst>
          </p:cNvPr>
          <p:cNvSpPr txBox="1"/>
          <p:nvPr/>
        </p:nvSpPr>
        <p:spPr>
          <a:xfrm>
            <a:off x="2450584" y="284161"/>
            <a:ext cx="178068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02</a:t>
            </a:r>
            <a:endParaRPr lang="en-US" altLang="ko-KR" sz="1400" dirty="0"/>
          </a:p>
          <a:p>
            <a:r>
              <a:rPr lang="en-US" sz="1400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Deep Learning</a:t>
            </a:r>
          </a:p>
        </p:txBody>
      </p:sp>
      <p:grpSp>
        <p:nvGrpSpPr>
          <p:cNvPr id="27" name="그룹 1003">
            <a:extLst>
              <a:ext uri="{FF2B5EF4-FFF2-40B4-BE49-F238E27FC236}">
                <a16:creationId xmlns:a16="http://schemas.microsoft.com/office/drawing/2014/main" id="{1AF1FC4E-7F13-3074-FD94-3FF4FD747DA4}"/>
              </a:ext>
            </a:extLst>
          </p:cNvPr>
          <p:cNvGrpSpPr/>
          <p:nvPr/>
        </p:nvGrpSpPr>
        <p:grpSpPr>
          <a:xfrm>
            <a:off x="2450584" y="809625"/>
            <a:ext cx="1744063" cy="73288"/>
            <a:chOff x="2294344" y="3800952"/>
            <a:chExt cx="1342815" cy="73288"/>
          </a:xfrm>
        </p:grpSpPr>
        <p:pic>
          <p:nvPicPr>
            <p:cNvPr id="29" name="Object 11">
              <a:extLst>
                <a:ext uri="{FF2B5EF4-FFF2-40B4-BE49-F238E27FC236}">
                  <a16:creationId xmlns:a16="http://schemas.microsoft.com/office/drawing/2014/main" id="{39445AC3-E4A5-CE43-6173-AF6C0709B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id="{0EA2A252-ADC8-95C7-4C57-82CE128B22D2}"/>
              </a:ext>
            </a:extLst>
          </p:cNvPr>
          <p:cNvSpPr txBox="1"/>
          <p:nvPr/>
        </p:nvSpPr>
        <p:spPr>
          <a:xfrm>
            <a:off x="624511" y="1671162"/>
            <a:ext cx="31235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Yolov5</a:t>
            </a:r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F17F94C5-2CD4-6794-F39E-288389A2C921}"/>
              </a:ext>
            </a:extLst>
          </p:cNvPr>
          <p:cNvSpPr txBox="1"/>
          <p:nvPr/>
        </p:nvSpPr>
        <p:spPr>
          <a:xfrm>
            <a:off x="624512" y="1350187"/>
            <a:ext cx="116523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1-1</a:t>
            </a:r>
            <a:endParaRPr lang="en-US" dirty="0"/>
          </a:p>
        </p:txBody>
      </p:sp>
      <p:grpSp>
        <p:nvGrpSpPr>
          <p:cNvPr id="32" name="그룹 1001">
            <a:extLst>
              <a:ext uri="{FF2B5EF4-FFF2-40B4-BE49-F238E27FC236}">
                <a16:creationId xmlns:a16="http://schemas.microsoft.com/office/drawing/2014/main" id="{7BE8C3E6-4CE1-181B-655C-21E04ED42851}"/>
              </a:ext>
            </a:extLst>
          </p:cNvPr>
          <p:cNvGrpSpPr/>
          <p:nvPr/>
        </p:nvGrpSpPr>
        <p:grpSpPr>
          <a:xfrm>
            <a:off x="1210283" y="1550686"/>
            <a:ext cx="1242404" cy="20939"/>
            <a:chOff x="1063081" y="1518058"/>
            <a:chExt cx="1242404" cy="20939"/>
          </a:xfrm>
        </p:grpSpPr>
        <p:pic>
          <p:nvPicPr>
            <p:cNvPr id="33" name="Object 5">
              <a:extLst>
                <a:ext uri="{FF2B5EF4-FFF2-40B4-BE49-F238E27FC236}">
                  <a16:creationId xmlns:a16="http://schemas.microsoft.com/office/drawing/2014/main" id="{1F724955-B141-6246-4706-93D11CB93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 rot="-10800000">
              <a:off x="1063081" y="1518058"/>
              <a:ext cx="1242404" cy="20939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0" y="0"/>
            <a:ext cx="10696575" cy="7618944"/>
          </a:xfrm>
          <a:prstGeom prst="rect">
            <a:avLst/>
          </a:prstGeom>
          <a:noFill/>
          <a:ln w="63500">
            <a:solidFill>
              <a:srgbClr val="FC52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FBD167B-0096-E52D-62F7-CA907683E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3" y="1148953"/>
            <a:ext cx="10529887" cy="5264943"/>
          </a:xfrm>
          <a:prstGeom prst="rect">
            <a:avLst/>
          </a:prstGeom>
        </p:spPr>
      </p:pic>
      <p:grpSp>
        <p:nvGrpSpPr>
          <p:cNvPr id="9" name="그룹 1002">
            <a:extLst>
              <a:ext uri="{FF2B5EF4-FFF2-40B4-BE49-F238E27FC236}">
                <a16:creationId xmlns:a16="http://schemas.microsoft.com/office/drawing/2014/main" id="{DF543819-0FE4-D2FC-F36C-C4D96D32A6BD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10" name="Object 8">
              <a:extLst>
                <a:ext uri="{FF2B5EF4-FFF2-40B4-BE49-F238E27FC236}">
                  <a16:creationId xmlns:a16="http://schemas.microsoft.com/office/drawing/2014/main" id="{A2624C7B-0D12-278C-1948-9C5424849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sp>
        <p:nvSpPr>
          <p:cNvPr id="11" name="Object 4">
            <a:extLst>
              <a:ext uri="{FF2B5EF4-FFF2-40B4-BE49-F238E27FC236}">
                <a16:creationId xmlns:a16="http://schemas.microsoft.com/office/drawing/2014/main" id="{50909BCA-BB5A-7E63-E0B1-6DA62A140583}"/>
              </a:ext>
            </a:extLst>
          </p:cNvPr>
          <p:cNvSpPr txBox="1"/>
          <p:nvPr/>
        </p:nvSpPr>
        <p:spPr>
          <a:xfrm>
            <a:off x="2450584" y="284161"/>
            <a:ext cx="178068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02</a:t>
            </a:r>
            <a:endParaRPr lang="en-US" altLang="ko-KR" sz="1400" dirty="0"/>
          </a:p>
          <a:p>
            <a:r>
              <a:rPr lang="en-US" sz="1400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Deep Learning</a:t>
            </a:r>
          </a:p>
        </p:txBody>
      </p:sp>
      <p:grpSp>
        <p:nvGrpSpPr>
          <p:cNvPr id="12" name="그룹 1003">
            <a:extLst>
              <a:ext uri="{FF2B5EF4-FFF2-40B4-BE49-F238E27FC236}">
                <a16:creationId xmlns:a16="http://schemas.microsoft.com/office/drawing/2014/main" id="{8F4ABCA0-9163-2234-D87F-0E875406D695}"/>
              </a:ext>
            </a:extLst>
          </p:cNvPr>
          <p:cNvGrpSpPr/>
          <p:nvPr/>
        </p:nvGrpSpPr>
        <p:grpSpPr>
          <a:xfrm>
            <a:off x="2450584" y="809625"/>
            <a:ext cx="1744063" cy="73288"/>
            <a:chOff x="2294344" y="3800952"/>
            <a:chExt cx="1342815" cy="73288"/>
          </a:xfrm>
        </p:grpSpPr>
        <p:pic>
          <p:nvPicPr>
            <p:cNvPr id="13" name="Object 11">
              <a:extLst>
                <a:ext uri="{FF2B5EF4-FFF2-40B4-BE49-F238E27FC236}">
                  <a16:creationId xmlns:a16="http://schemas.microsoft.com/office/drawing/2014/main" id="{967D2881-24F0-A4D8-3D3A-8B70D3B1F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11567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/>
        </p:nvCxnSpPr>
        <p:spPr>
          <a:xfrm>
            <a:off x="395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002">
            <a:extLst>
              <a:ext uri="{FF2B5EF4-FFF2-40B4-BE49-F238E27FC236}">
                <a16:creationId xmlns:a16="http://schemas.microsoft.com/office/drawing/2014/main" id="{E63ACCEA-4DE2-F2B7-5F4A-21F96DCB11B6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04AB7DE4-54F9-7F67-C173-79C881257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sp>
        <p:nvSpPr>
          <p:cNvPr id="30" name="Object 2">
            <a:extLst>
              <a:ext uri="{FF2B5EF4-FFF2-40B4-BE49-F238E27FC236}">
                <a16:creationId xmlns:a16="http://schemas.microsoft.com/office/drawing/2014/main" id="{0EA2A252-ADC8-95C7-4C57-82CE128B22D2}"/>
              </a:ext>
            </a:extLst>
          </p:cNvPr>
          <p:cNvSpPr txBox="1"/>
          <p:nvPr/>
        </p:nvSpPr>
        <p:spPr>
          <a:xfrm>
            <a:off x="624511" y="1249709"/>
            <a:ext cx="312357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디자인 초안</a:t>
            </a:r>
            <a:endParaRPr lang="en-US" altLang="ko-KR" sz="2000" b="1" dirty="0">
              <a:solidFill>
                <a:srgbClr val="FC5230"/>
              </a:solidFill>
              <a:latin typeface="Arial Rounded MT Bold" panose="020F0704030504030204" pitchFamily="34" charset="0"/>
              <a:ea typeface="나눔고딕" panose="020D0604000000000000" pitchFamily="50" charset="-127"/>
              <a:cs typeface="Jalnan OTF" pitchFamily="34" charset="0"/>
            </a:endParaRPr>
          </a:p>
        </p:txBody>
      </p:sp>
      <p:sp>
        <p:nvSpPr>
          <p:cNvPr id="31" name="Object 3">
            <a:extLst>
              <a:ext uri="{FF2B5EF4-FFF2-40B4-BE49-F238E27FC236}">
                <a16:creationId xmlns:a16="http://schemas.microsoft.com/office/drawing/2014/main" id="{F17F94C5-2CD4-6794-F39E-288389A2C921}"/>
              </a:ext>
            </a:extLst>
          </p:cNvPr>
          <p:cNvSpPr txBox="1"/>
          <p:nvPr/>
        </p:nvSpPr>
        <p:spPr>
          <a:xfrm>
            <a:off x="624512" y="928734"/>
            <a:ext cx="116523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3-1</a:t>
            </a:r>
            <a:endParaRPr lang="en-US" dirty="0"/>
          </a:p>
        </p:txBody>
      </p:sp>
      <p:grpSp>
        <p:nvGrpSpPr>
          <p:cNvPr id="32" name="그룹 1001">
            <a:extLst>
              <a:ext uri="{FF2B5EF4-FFF2-40B4-BE49-F238E27FC236}">
                <a16:creationId xmlns:a16="http://schemas.microsoft.com/office/drawing/2014/main" id="{7BE8C3E6-4CE1-181B-655C-21E04ED42851}"/>
              </a:ext>
            </a:extLst>
          </p:cNvPr>
          <p:cNvGrpSpPr/>
          <p:nvPr/>
        </p:nvGrpSpPr>
        <p:grpSpPr>
          <a:xfrm>
            <a:off x="1210283" y="1129233"/>
            <a:ext cx="1242404" cy="20939"/>
            <a:chOff x="1063081" y="1518058"/>
            <a:chExt cx="1242404" cy="20939"/>
          </a:xfrm>
        </p:grpSpPr>
        <p:pic>
          <p:nvPicPr>
            <p:cNvPr id="33" name="Object 5">
              <a:extLst>
                <a:ext uri="{FF2B5EF4-FFF2-40B4-BE49-F238E27FC236}">
                  <a16:creationId xmlns:a16="http://schemas.microsoft.com/office/drawing/2014/main" id="{1F724955-B141-6246-4706-93D11CB93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63081" y="1518058"/>
              <a:ext cx="1242404" cy="20939"/>
            </a:xfrm>
            <a:prstGeom prst="rect">
              <a:avLst/>
            </a:prstGeom>
          </p:spPr>
        </p:pic>
      </p:grpSp>
      <p:sp>
        <p:nvSpPr>
          <p:cNvPr id="2" name="Object 4">
            <a:extLst>
              <a:ext uri="{FF2B5EF4-FFF2-40B4-BE49-F238E27FC236}">
                <a16:creationId xmlns:a16="http://schemas.microsoft.com/office/drawing/2014/main" id="{DB55FFA4-1C64-FE81-2BC1-485DF2DFC3E9}"/>
              </a:ext>
            </a:extLst>
          </p:cNvPr>
          <p:cNvSpPr txBox="1"/>
          <p:nvPr/>
        </p:nvSpPr>
        <p:spPr>
          <a:xfrm>
            <a:off x="4197059" y="284161"/>
            <a:ext cx="178068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03</a:t>
            </a:r>
            <a:endParaRPr lang="en-US" altLang="ko-KR" sz="1400" dirty="0"/>
          </a:p>
          <a:p>
            <a:r>
              <a:rPr lang="en-US" sz="1400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Application</a:t>
            </a:r>
          </a:p>
        </p:txBody>
      </p:sp>
      <p:grpSp>
        <p:nvGrpSpPr>
          <p:cNvPr id="3" name="그룹 1003">
            <a:extLst>
              <a:ext uri="{FF2B5EF4-FFF2-40B4-BE49-F238E27FC236}">
                <a16:creationId xmlns:a16="http://schemas.microsoft.com/office/drawing/2014/main" id="{9A5201BE-BEA9-669D-F4D9-F35EC396CFDB}"/>
              </a:ext>
            </a:extLst>
          </p:cNvPr>
          <p:cNvGrpSpPr/>
          <p:nvPr/>
        </p:nvGrpSpPr>
        <p:grpSpPr>
          <a:xfrm>
            <a:off x="4197059" y="809625"/>
            <a:ext cx="1744063" cy="73288"/>
            <a:chOff x="2294344" y="3800952"/>
            <a:chExt cx="1342815" cy="73288"/>
          </a:xfrm>
        </p:grpSpPr>
        <p:pic>
          <p:nvPicPr>
            <p:cNvPr id="4" name="Object 11">
              <a:extLst>
                <a:ext uri="{FF2B5EF4-FFF2-40B4-BE49-F238E27FC236}">
                  <a16:creationId xmlns:a16="http://schemas.microsoft.com/office/drawing/2014/main" id="{FABDBB12-D839-D42D-CA5C-DE1ADA0A8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  <p:pic>
        <p:nvPicPr>
          <p:cNvPr id="5122" name="Picture 2">
            <a:extLst>
              <a:ext uri="{FF2B5EF4-FFF2-40B4-BE49-F238E27FC236}">
                <a16:creationId xmlns:a16="http://schemas.microsoft.com/office/drawing/2014/main" id="{30680C87-18A1-82DE-BFB6-15D0AF7D6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7497" y="1649820"/>
            <a:ext cx="7101579" cy="5370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AC3BB4B-40F5-CDD3-8D63-63C99CCA68E1}"/>
              </a:ext>
            </a:extLst>
          </p:cNvPr>
          <p:cNvCxnSpPr/>
          <p:nvPr/>
        </p:nvCxnSpPr>
        <p:spPr>
          <a:xfrm>
            <a:off x="10301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144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52"/>
          <p:cNvSpPr txBox="1"/>
          <p:nvPr/>
        </p:nvSpPr>
        <p:spPr>
          <a:xfrm>
            <a:off x="129640" y="2681054"/>
            <a:ext cx="3507665" cy="327269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lang="ko-KR" altLang="en-US" sz="2000" b="1" dirty="0"/>
              <a:t>캘린더</a:t>
            </a:r>
            <a:endParaRPr lang="en-US" altLang="ko-KR" sz="2000" b="1" dirty="0"/>
          </a:p>
          <a:p>
            <a:pPr algn="r">
              <a:spcAft>
                <a:spcPts val="800"/>
              </a:spcAft>
            </a:pPr>
            <a:r>
              <a:rPr lang="ko-KR" altLang="en-US" sz="2000" b="1" dirty="0"/>
              <a:t>식당 이름</a:t>
            </a:r>
            <a:endParaRPr lang="en-US" altLang="ko-KR" sz="2000" b="1" dirty="0"/>
          </a:p>
          <a:p>
            <a:pPr algn="r">
              <a:spcAft>
                <a:spcPts val="800"/>
              </a:spcAft>
            </a:pPr>
            <a:r>
              <a:rPr lang="ko-KR" altLang="en-US" sz="2000" b="1" dirty="0"/>
              <a:t>예상 대기시간</a:t>
            </a:r>
            <a:endParaRPr lang="en-US" altLang="ko-KR" sz="2000" b="1" dirty="0"/>
          </a:p>
          <a:p>
            <a:pPr algn="r">
              <a:spcAft>
                <a:spcPts val="800"/>
              </a:spcAft>
            </a:pPr>
            <a:r>
              <a:rPr lang="ko-KR" altLang="en-US" sz="2000" b="1" dirty="0"/>
              <a:t>앱 이름</a:t>
            </a:r>
            <a:endParaRPr lang="en-US" altLang="ko-KR" sz="2000" b="1" dirty="0"/>
          </a:p>
          <a:p>
            <a:pPr algn="r">
              <a:spcAft>
                <a:spcPts val="800"/>
              </a:spcAft>
            </a:pPr>
            <a:r>
              <a:rPr lang="ko-KR" altLang="en-US" sz="2000" b="1" dirty="0"/>
              <a:t>리뷰 게시판</a:t>
            </a:r>
            <a:endParaRPr lang="en-US" altLang="ko-KR" sz="2000" b="1" dirty="0"/>
          </a:p>
          <a:p>
            <a:pPr algn="r">
              <a:spcAft>
                <a:spcPts val="800"/>
              </a:spcAft>
            </a:pPr>
            <a:r>
              <a:rPr lang="ko-KR" altLang="en-US" sz="2000" b="1" dirty="0"/>
              <a:t>식단표</a:t>
            </a:r>
            <a:endParaRPr lang="en-US" altLang="ko-KR" sz="2000" b="1" dirty="0"/>
          </a:p>
          <a:p>
            <a:pPr algn="r">
              <a:spcAft>
                <a:spcPts val="800"/>
              </a:spcAft>
            </a:pPr>
            <a:r>
              <a:rPr lang="ko-KR" altLang="en-US" sz="2000" b="1" dirty="0"/>
              <a:t>음식 사진</a:t>
            </a:r>
            <a:endParaRPr lang="en-US" altLang="ko-KR" sz="2000" b="1" dirty="0"/>
          </a:p>
          <a:p>
            <a:pPr algn="r">
              <a:spcAft>
                <a:spcPts val="800"/>
              </a:spcAft>
            </a:pPr>
            <a:r>
              <a:rPr lang="ko-KR" altLang="en-US" sz="2000" b="1" dirty="0"/>
              <a:t>오늘의 명언</a:t>
            </a:r>
            <a:endParaRPr lang="en-US" altLang="ko-KR" sz="2000" b="1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395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002">
            <a:extLst>
              <a:ext uri="{FF2B5EF4-FFF2-40B4-BE49-F238E27FC236}">
                <a16:creationId xmlns:a16="http://schemas.microsoft.com/office/drawing/2014/main" id="{E63ACCEA-4DE2-F2B7-5F4A-21F96DCB11B6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04AB7DE4-54F9-7F67-C173-79C881257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2C3E63FB-3A11-CAE6-8F07-0BD7758D2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1122" y="904020"/>
            <a:ext cx="3127925" cy="6416390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BFEA4326-A68E-53BA-6141-61AADF5F345B}"/>
              </a:ext>
            </a:extLst>
          </p:cNvPr>
          <p:cNvCxnSpPr>
            <a:cxnSpLocks/>
          </p:cNvCxnSpPr>
          <p:nvPr/>
        </p:nvCxnSpPr>
        <p:spPr>
          <a:xfrm flipV="1">
            <a:off x="3699801" y="1816871"/>
            <a:ext cx="3906471" cy="1066768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93150E98-A6C9-301D-D014-B4A42DDEFBDB}"/>
              </a:ext>
            </a:extLst>
          </p:cNvPr>
          <p:cNvCxnSpPr>
            <a:cxnSpLocks/>
          </p:cNvCxnSpPr>
          <p:nvPr/>
        </p:nvCxnSpPr>
        <p:spPr>
          <a:xfrm flipV="1">
            <a:off x="3699801" y="2562225"/>
            <a:ext cx="2839671" cy="726268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FC1EA272-423B-E109-C9EF-45EABD55E209}"/>
              </a:ext>
            </a:extLst>
          </p:cNvPr>
          <p:cNvCxnSpPr>
            <a:cxnSpLocks/>
          </p:cNvCxnSpPr>
          <p:nvPr/>
        </p:nvCxnSpPr>
        <p:spPr>
          <a:xfrm flipV="1">
            <a:off x="3699801" y="3134963"/>
            <a:ext cx="2763471" cy="558727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0D5EECC-0C41-79B4-891A-41BD04657422}"/>
              </a:ext>
            </a:extLst>
          </p:cNvPr>
          <p:cNvCxnSpPr>
            <a:cxnSpLocks/>
          </p:cNvCxnSpPr>
          <p:nvPr/>
        </p:nvCxnSpPr>
        <p:spPr>
          <a:xfrm flipV="1">
            <a:off x="3699801" y="3959024"/>
            <a:ext cx="2458671" cy="151077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C345213-37E5-3171-4C7E-6F3E1756A836}"/>
              </a:ext>
            </a:extLst>
          </p:cNvPr>
          <p:cNvCxnSpPr>
            <a:cxnSpLocks/>
          </p:cNvCxnSpPr>
          <p:nvPr/>
        </p:nvCxnSpPr>
        <p:spPr>
          <a:xfrm flipV="1">
            <a:off x="3699801" y="4412993"/>
            <a:ext cx="4135071" cy="80175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8FA5E16-6519-19D3-BC47-65A17687C8F9}"/>
              </a:ext>
            </a:extLst>
          </p:cNvPr>
          <p:cNvCxnSpPr>
            <a:cxnSpLocks/>
          </p:cNvCxnSpPr>
          <p:nvPr/>
        </p:nvCxnSpPr>
        <p:spPr>
          <a:xfrm>
            <a:off x="3699801" y="4907526"/>
            <a:ext cx="2611071" cy="363843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69141C4-855F-17E6-42A4-C81B828701D9}"/>
              </a:ext>
            </a:extLst>
          </p:cNvPr>
          <p:cNvCxnSpPr>
            <a:cxnSpLocks/>
          </p:cNvCxnSpPr>
          <p:nvPr/>
        </p:nvCxnSpPr>
        <p:spPr>
          <a:xfrm>
            <a:off x="3699801" y="5283699"/>
            <a:ext cx="3805283" cy="462280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15A1703-E2A5-95D5-7B0E-FA4AAF1E394F}"/>
              </a:ext>
            </a:extLst>
          </p:cNvPr>
          <p:cNvCxnSpPr>
            <a:cxnSpLocks/>
          </p:cNvCxnSpPr>
          <p:nvPr/>
        </p:nvCxnSpPr>
        <p:spPr>
          <a:xfrm>
            <a:off x="3699801" y="5685727"/>
            <a:ext cx="2347959" cy="666763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bject 4">
            <a:extLst>
              <a:ext uri="{FF2B5EF4-FFF2-40B4-BE49-F238E27FC236}">
                <a16:creationId xmlns:a16="http://schemas.microsoft.com/office/drawing/2014/main" id="{4F319573-9BE0-2E12-AC3A-C9657243A575}"/>
              </a:ext>
            </a:extLst>
          </p:cNvPr>
          <p:cNvSpPr txBox="1"/>
          <p:nvPr/>
        </p:nvSpPr>
        <p:spPr>
          <a:xfrm>
            <a:off x="4197059" y="284161"/>
            <a:ext cx="178068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03</a:t>
            </a:r>
            <a:endParaRPr lang="en-US" altLang="ko-KR" sz="1400" dirty="0"/>
          </a:p>
          <a:p>
            <a:r>
              <a:rPr lang="en-US" sz="1400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Application</a:t>
            </a:r>
          </a:p>
        </p:txBody>
      </p:sp>
      <p:grpSp>
        <p:nvGrpSpPr>
          <p:cNvPr id="46" name="그룹 1003">
            <a:extLst>
              <a:ext uri="{FF2B5EF4-FFF2-40B4-BE49-F238E27FC236}">
                <a16:creationId xmlns:a16="http://schemas.microsoft.com/office/drawing/2014/main" id="{E10A40B3-225D-86CF-2566-402EF240C3C3}"/>
              </a:ext>
            </a:extLst>
          </p:cNvPr>
          <p:cNvGrpSpPr/>
          <p:nvPr/>
        </p:nvGrpSpPr>
        <p:grpSpPr>
          <a:xfrm>
            <a:off x="4197059" y="809625"/>
            <a:ext cx="1744063" cy="73288"/>
            <a:chOff x="2294344" y="3800952"/>
            <a:chExt cx="1342815" cy="73288"/>
          </a:xfrm>
        </p:grpSpPr>
        <p:pic>
          <p:nvPicPr>
            <p:cNvPr id="47" name="Object 11">
              <a:extLst>
                <a:ext uri="{FF2B5EF4-FFF2-40B4-BE49-F238E27FC236}">
                  <a16:creationId xmlns:a16="http://schemas.microsoft.com/office/drawing/2014/main" id="{FC060B70-D4CE-2DA7-E7BC-46D810DF8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2205CE78-ECA2-A4AE-A80F-5F11B4D9036E}"/>
              </a:ext>
            </a:extLst>
          </p:cNvPr>
          <p:cNvCxnSpPr/>
          <p:nvPr/>
        </p:nvCxnSpPr>
        <p:spPr>
          <a:xfrm>
            <a:off x="10301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bject 2">
            <a:extLst>
              <a:ext uri="{FF2B5EF4-FFF2-40B4-BE49-F238E27FC236}">
                <a16:creationId xmlns:a16="http://schemas.microsoft.com/office/drawing/2014/main" id="{028AA309-E64C-853F-CE29-DFC987AC7FC3}"/>
              </a:ext>
            </a:extLst>
          </p:cNvPr>
          <p:cNvSpPr txBox="1"/>
          <p:nvPr/>
        </p:nvSpPr>
        <p:spPr>
          <a:xfrm>
            <a:off x="624511" y="1249709"/>
            <a:ext cx="312357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메인 화면</a:t>
            </a:r>
            <a:endParaRPr lang="en-US" altLang="ko-KR" sz="2000" b="1" dirty="0">
              <a:solidFill>
                <a:srgbClr val="FC5230"/>
              </a:solidFill>
              <a:latin typeface="Arial Rounded MT Bold" panose="020F0704030504030204" pitchFamily="34" charset="0"/>
              <a:ea typeface="나눔고딕" panose="020D0604000000000000" pitchFamily="50" charset="-127"/>
              <a:cs typeface="Jalnan OTF" pitchFamily="34" charset="0"/>
            </a:endParaRPr>
          </a:p>
        </p:txBody>
      </p:sp>
      <p:sp>
        <p:nvSpPr>
          <p:cNvPr id="50" name="Object 3">
            <a:extLst>
              <a:ext uri="{FF2B5EF4-FFF2-40B4-BE49-F238E27FC236}">
                <a16:creationId xmlns:a16="http://schemas.microsoft.com/office/drawing/2014/main" id="{37F2B6B8-23DA-A844-B15E-CFE5234B119C}"/>
              </a:ext>
            </a:extLst>
          </p:cNvPr>
          <p:cNvSpPr txBox="1"/>
          <p:nvPr/>
        </p:nvSpPr>
        <p:spPr>
          <a:xfrm>
            <a:off x="624512" y="928734"/>
            <a:ext cx="116523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3-2</a:t>
            </a:r>
            <a:endParaRPr lang="en-US" dirty="0"/>
          </a:p>
        </p:txBody>
      </p:sp>
      <p:grpSp>
        <p:nvGrpSpPr>
          <p:cNvPr id="53" name="그룹 1001">
            <a:extLst>
              <a:ext uri="{FF2B5EF4-FFF2-40B4-BE49-F238E27FC236}">
                <a16:creationId xmlns:a16="http://schemas.microsoft.com/office/drawing/2014/main" id="{04730974-1EBA-11FD-407E-1579A8256234}"/>
              </a:ext>
            </a:extLst>
          </p:cNvPr>
          <p:cNvGrpSpPr/>
          <p:nvPr/>
        </p:nvGrpSpPr>
        <p:grpSpPr>
          <a:xfrm>
            <a:off x="1210283" y="1129233"/>
            <a:ext cx="1242404" cy="20939"/>
            <a:chOff x="1063081" y="1518058"/>
            <a:chExt cx="1242404" cy="20939"/>
          </a:xfrm>
        </p:grpSpPr>
        <p:pic>
          <p:nvPicPr>
            <p:cNvPr id="54" name="Object 5">
              <a:extLst>
                <a:ext uri="{FF2B5EF4-FFF2-40B4-BE49-F238E27FC236}">
                  <a16:creationId xmlns:a16="http://schemas.microsoft.com/office/drawing/2014/main" id="{F7A66E07-4C10-A421-7904-9488F7CA66E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 rot="-10800000">
              <a:off x="1063081" y="1518058"/>
              <a:ext cx="1242404" cy="20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06052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/>
        </p:nvCxnSpPr>
        <p:spPr>
          <a:xfrm>
            <a:off x="395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002">
            <a:extLst>
              <a:ext uri="{FF2B5EF4-FFF2-40B4-BE49-F238E27FC236}">
                <a16:creationId xmlns:a16="http://schemas.microsoft.com/office/drawing/2014/main" id="{E63ACCEA-4DE2-F2B7-5F4A-21F96DCB11B6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04AB7DE4-54F9-7F67-C173-79C881257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sp>
        <p:nvSpPr>
          <p:cNvPr id="31" name="Object 3">
            <a:extLst>
              <a:ext uri="{FF2B5EF4-FFF2-40B4-BE49-F238E27FC236}">
                <a16:creationId xmlns:a16="http://schemas.microsoft.com/office/drawing/2014/main" id="{F17F94C5-2CD4-6794-F39E-288389A2C921}"/>
              </a:ext>
            </a:extLst>
          </p:cNvPr>
          <p:cNvSpPr txBox="1"/>
          <p:nvPr/>
        </p:nvSpPr>
        <p:spPr>
          <a:xfrm>
            <a:off x="624512" y="928734"/>
            <a:ext cx="116523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3-3</a:t>
            </a:r>
            <a:endParaRPr lang="en-US" dirty="0"/>
          </a:p>
        </p:txBody>
      </p:sp>
      <p:grpSp>
        <p:nvGrpSpPr>
          <p:cNvPr id="32" name="그룹 1001">
            <a:extLst>
              <a:ext uri="{FF2B5EF4-FFF2-40B4-BE49-F238E27FC236}">
                <a16:creationId xmlns:a16="http://schemas.microsoft.com/office/drawing/2014/main" id="{7BE8C3E6-4CE1-181B-655C-21E04ED42851}"/>
              </a:ext>
            </a:extLst>
          </p:cNvPr>
          <p:cNvGrpSpPr/>
          <p:nvPr/>
        </p:nvGrpSpPr>
        <p:grpSpPr>
          <a:xfrm>
            <a:off x="1210283" y="1129233"/>
            <a:ext cx="1242404" cy="20939"/>
            <a:chOff x="1063081" y="1518058"/>
            <a:chExt cx="1242404" cy="20939"/>
          </a:xfrm>
        </p:grpSpPr>
        <p:pic>
          <p:nvPicPr>
            <p:cNvPr id="33" name="Object 5">
              <a:extLst>
                <a:ext uri="{FF2B5EF4-FFF2-40B4-BE49-F238E27FC236}">
                  <a16:creationId xmlns:a16="http://schemas.microsoft.com/office/drawing/2014/main" id="{1F724955-B141-6246-4706-93D11CB93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63081" y="1518058"/>
              <a:ext cx="1242404" cy="20939"/>
            </a:xfrm>
            <a:prstGeom prst="rect">
              <a:avLst/>
            </a:prstGeom>
          </p:spPr>
        </p:pic>
      </p:grpSp>
      <p:sp>
        <p:nvSpPr>
          <p:cNvPr id="2" name="Object 4">
            <a:extLst>
              <a:ext uri="{FF2B5EF4-FFF2-40B4-BE49-F238E27FC236}">
                <a16:creationId xmlns:a16="http://schemas.microsoft.com/office/drawing/2014/main" id="{DB55FFA4-1C64-FE81-2BC1-485DF2DFC3E9}"/>
              </a:ext>
            </a:extLst>
          </p:cNvPr>
          <p:cNvSpPr txBox="1"/>
          <p:nvPr/>
        </p:nvSpPr>
        <p:spPr>
          <a:xfrm>
            <a:off x="4197059" y="284161"/>
            <a:ext cx="178068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03</a:t>
            </a:r>
            <a:endParaRPr lang="en-US" altLang="ko-KR" sz="1400" dirty="0"/>
          </a:p>
          <a:p>
            <a:r>
              <a:rPr lang="en-US" sz="1400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Application</a:t>
            </a:r>
          </a:p>
        </p:txBody>
      </p:sp>
      <p:grpSp>
        <p:nvGrpSpPr>
          <p:cNvPr id="3" name="그룹 1003">
            <a:extLst>
              <a:ext uri="{FF2B5EF4-FFF2-40B4-BE49-F238E27FC236}">
                <a16:creationId xmlns:a16="http://schemas.microsoft.com/office/drawing/2014/main" id="{9A5201BE-BEA9-669D-F4D9-F35EC396CFDB}"/>
              </a:ext>
            </a:extLst>
          </p:cNvPr>
          <p:cNvGrpSpPr/>
          <p:nvPr/>
        </p:nvGrpSpPr>
        <p:grpSpPr>
          <a:xfrm>
            <a:off x="4197059" y="809625"/>
            <a:ext cx="1744063" cy="73288"/>
            <a:chOff x="2294344" y="3800952"/>
            <a:chExt cx="1342815" cy="73288"/>
          </a:xfrm>
        </p:grpSpPr>
        <p:pic>
          <p:nvPicPr>
            <p:cNvPr id="4" name="Object 11">
              <a:extLst>
                <a:ext uri="{FF2B5EF4-FFF2-40B4-BE49-F238E27FC236}">
                  <a16:creationId xmlns:a16="http://schemas.microsoft.com/office/drawing/2014/main" id="{FABDBB12-D839-D42D-CA5C-DE1ADA0A8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  <p:sp>
        <p:nvSpPr>
          <p:cNvPr id="6" name="Object 2">
            <a:extLst>
              <a:ext uri="{FF2B5EF4-FFF2-40B4-BE49-F238E27FC236}">
                <a16:creationId xmlns:a16="http://schemas.microsoft.com/office/drawing/2014/main" id="{B9289590-E639-5AD9-B2B4-49690C208DCC}"/>
              </a:ext>
            </a:extLst>
          </p:cNvPr>
          <p:cNvSpPr txBox="1"/>
          <p:nvPr/>
        </p:nvSpPr>
        <p:spPr>
          <a:xfrm>
            <a:off x="624511" y="1249709"/>
            <a:ext cx="312357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로그인 </a:t>
            </a:r>
            <a:r>
              <a:rPr lang="en-US" altLang="ko-KR" sz="20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&amp; </a:t>
            </a:r>
            <a:r>
              <a:rPr lang="ko-KR" altLang="en-US" sz="20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회원가입</a:t>
            </a:r>
            <a:endParaRPr lang="en-US" altLang="ko-KR" sz="2000" b="1" dirty="0">
              <a:solidFill>
                <a:srgbClr val="FC5230"/>
              </a:solidFill>
              <a:latin typeface="Arial Rounded MT Bold" panose="020F0704030504030204" pitchFamily="34" charset="0"/>
              <a:ea typeface="나눔고딕" panose="020D0604000000000000" pitchFamily="50" charset="-127"/>
              <a:cs typeface="Jalnan OTF" pitchFamily="34" charset="0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1AA95F81-77F2-352D-2A6E-B3E9AD497E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071" y="1772929"/>
            <a:ext cx="2694421" cy="5265597"/>
          </a:xfrm>
          <a:prstGeom prst="rect">
            <a:avLst/>
          </a:prstGeom>
        </p:spPr>
      </p:pic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9E6D5BF-0C2B-74AB-4DFB-729B1B5EE536}"/>
              </a:ext>
            </a:extLst>
          </p:cNvPr>
          <p:cNvCxnSpPr>
            <a:cxnSpLocks/>
          </p:cNvCxnSpPr>
          <p:nvPr/>
        </p:nvCxnSpPr>
        <p:spPr>
          <a:xfrm>
            <a:off x="5348287" y="1563454"/>
            <a:ext cx="0" cy="5453297"/>
          </a:xfrm>
          <a:prstGeom prst="line">
            <a:avLst/>
          </a:prstGeom>
          <a:ln w="15240" cmpd="sng">
            <a:solidFill>
              <a:srgbClr val="FC52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그림 27">
            <a:extLst>
              <a:ext uri="{FF2B5EF4-FFF2-40B4-BE49-F238E27FC236}">
                <a16:creationId xmlns:a16="http://schemas.microsoft.com/office/drawing/2014/main" id="{44677B3A-0D22-127A-2631-08032CE608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4028" y="1772929"/>
            <a:ext cx="2575518" cy="5265597"/>
          </a:xfrm>
          <a:prstGeom prst="rect">
            <a:avLst/>
          </a:prstGeom>
        </p:spPr>
      </p:pic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093B552-D591-4BBC-6924-CBE3D47A54B2}"/>
              </a:ext>
            </a:extLst>
          </p:cNvPr>
          <p:cNvCxnSpPr/>
          <p:nvPr/>
        </p:nvCxnSpPr>
        <p:spPr>
          <a:xfrm>
            <a:off x="10301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172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/>
        </p:nvCxnSpPr>
        <p:spPr>
          <a:xfrm>
            <a:off x="395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002">
            <a:extLst>
              <a:ext uri="{FF2B5EF4-FFF2-40B4-BE49-F238E27FC236}">
                <a16:creationId xmlns:a16="http://schemas.microsoft.com/office/drawing/2014/main" id="{E63ACCEA-4DE2-F2B7-5F4A-21F96DCB11B6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04AB7DE4-54F9-7F67-C173-79C881257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sp>
        <p:nvSpPr>
          <p:cNvPr id="31" name="Object 3">
            <a:extLst>
              <a:ext uri="{FF2B5EF4-FFF2-40B4-BE49-F238E27FC236}">
                <a16:creationId xmlns:a16="http://schemas.microsoft.com/office/drawing/2014/main" id="{F17F94C5-2CD4-6794-F39E-288389A2C921}"/>
              </a:ext>
            </a:extLst>
          </p:cNvPr>
          <p:cNvSpPr txBox="1"/>
          <p:nvPr/>
        </p:nvSpPr>
        <p:spPr>
          <a:xfrm>
            <a:off x="624512" y="928734"/>
            <a:ext cx="116523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3-4</a:t>
            </a:r>
            <a:endParaRPr lang="en-US" dirty="0"/>
          </a:p>
        </p:txBody>
      </p:sp>
      <p:grpSp>
        <p:nvGrpSpPr>
          <p:cNvPr id="32" name="그룹 1001">
            <a:extLst>
              <a:ext uri="{FF2B5EF4-FFF2-40B4-BE49-F238E27FC236}">
                <a16:creationId xmlns:a16="http://schemas.microsoft.com/office/drawing/2014/main" id="{7BE8C3E6-4CE1-181B-655C-21E04ED42851}"/>
              </a:ext>
            </a:extLst>
          </p:cNvPr>
          <p:cNvGrpSpPr/>
          <p:nvPr/>
        </p:nvGrpSpPr>
        <p:grpSpPr>
          <a:xfrm>
            <a:off x="1210283" y="1129233"/>
            <a:ext cx="1242404" cy="20939"/>
            <a:chOff x="1063081" y="1518058"/>
            <a:chExt cx="1242404" cy="20939"/>
          </a:xfrm>
        </p:grpSpPr>
        <p:pic>
          <p:nvPicPr>
            <p:cNvPr id="33" name="Object 5">
              <a:extLst>
                <a:ext uri="{FF2B5EF4-FFF2-40B4-BE49-F238E27FC236}">
                  <a16:creationId xmlns:a16="http://schemas.microsoft.com/office/drawing/2014/main" id="{1F724955-B141-6246-4706-93D11CB93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 rot="-10800000">
              <a:off x="1063081" y="1518058"/>
              <a:ext cx="1242404" cy="20939"/>
            </a:xfrm>
            <a:prstGeom prst="rect">
              <a:avLst/>
            </a:prstGeom>
          </p:spPr>
        </p:pic>
      </p:grpSp>
      <p:sp>
        <p:nvSpPr>
          <p:cNvPr id="2" name="Object 4">
            <a:extLst>
              <a:ext uri="{FF2B5EF4-FFF2-40B4-BE49-F238E27FC236}">
                <a16:creationId xmlns:a16="http://schemas.microsoft.com/office/drawing/2014/main" id="{DB55FFA4-1C64-FE81-2BC1-485DF2DFC3E9}"/>
              </a:ext>
            </a:extLst>
          </p:cNvPr>
          <p:cNvSpPr txBox="1"/>
          <p:nvPr/>
        </p:nvSpPr>
        <p:spPr>
          <a:xfrm>
            <a:off x="4197059" y="284161"/>
            <a:ext cx="178068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03</a:t>
            </a:r>
            <a:endParaRPr lang="en-US" altLang="ko-KR" sz="1400" dirty="0"/>
          </a:p>
          <a:p>
            <a:r>
              <a:rPr lang="en-US" sz="1400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Application</a:t>
            </a:r>
          </a:p>
        </p:txBody>
      </p:sp>
      <p:grpSp>
        <p:nvGrpSpPr>
          <p:cNvPr id="3" name="그룹 1003">
            <a:extLst>
              <a:ext uri="{FF2B5EF4-FFF2-40B4-BE49-F238E27FC236}">
                <a16:creationId xmlns:a16="http://schemas.microsoft.com/office/drawing/2014/main" id="{9A5201BE-BEA9-669D-F4D9-F35EC396CFDB}"/>
              </a:ext>
            </a:extLst>
          </p:cNvPr>
          <p:cNvGrpSpPr/>
          <p:nvPr/>
        </p:nvGrpSpPr>
        <p:grpSpPr>
          <a:xfrm>
            <a:off x="4197059" y="809625"/>
            <a:ext cx="1744063" cy="73288"/>
            <a:chOff x="2294344" y="3800952"/>
            <a:chExt cx="1342815" cy="73288"/>
          </a:xfrm>
        </p:grpSpPr>
        <p:pic>
          <p:nvPicPr>
            <p:cNvPr id="4" name="Object 11">
              <a:extLst>
                <a:ext uri="{FF2B5EF4-FFF2-40B4-BE49-F238E27FC236}">
                  <a16:creationId xmlns:a16="http://schemas.microsoft.com/office/drawing/2014/main" id="{FABDBB12-D839-D42D-CA5C-DE1ADA0A8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  <p:sp>
        <p:nvSpPr>
          <p:cNvPr id="6" name="Object 2">
            <a:extLst>
              <a:ext uri="{FF2B5EF4-FFF2-40B4-BE49-F238E27FC236}">
                <a16:creationId xmlns:a16="http://schemas.microsoft.com/office/drawing/2014/main" id="{B9289590-E639-5AD9-B2B4-49690C208DCC}"/>
              </a:ext>
            </a:extLst>
          </p:cNvPr>
          <p:cNvSpPr txBox="1"/>
          <p:nvPr/>
        </p:nvSpPr>
        <p:spPr>
          <a:xfrm>
            <a:off x="624511" y="1249709"/>
            <a:ext cx="312357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예상 대기시간</a:t>
            </a:r>
            <a:endParaRPr lang="en-US" altLang="ko-KR" sz="2000" b="1" dirty="0">
              <a:solidFill>
                <a:srgbClr val="FC5230"/>
              </a:solidFill>
              <a:latin typeface="Arial Rounded MT Bold" panose="020F0704030504030204" pitchFamily="34" charset="0"/>
              <a:ea typeface="나눔고딕" panose="020D0604000000000000" pitchFamily="50" charset="-127"/>
              <a:cs typeface="Jalnan OTF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EB63D27-108C-3E1B-7A0B-E706AC6EA9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425" y="904020"/>
            <a:ext cx="3127925" cy="6416390"/>
          </a:xfrm>
          <a:prstGeom prst="rect">
            <a:avLst/>
          </a:prstGeom>
        </p:spPr>
      </p:pic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8C680442-46BE-BFBC-C512-40139947BDAC}"/>
              </a:ext>
            </a:extLst>
          </p:cNvPr>
          <p:cNvCxnSpPr/>
          <p:nvPr/>
        </p:nvCxnSpPr>
        <p:spPr>
          <a:xfrm>
            <a:off x="10301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33946321-7B72-F3C4-084A-3E0D54F641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703" y="3500632"/>
            <a:ext cx="4635986" cy="205861"/>
          </a:xfrm>
          <a:prstGeom prst="rect">
            <a:avLst/>
          </a:prstGeom>
        </p:spPr>
      </p:pic>
      <p:sp>
        <p:nvSpPr>
          <p:cNvPr id="29" name="Object 52">
            <a:extLst>
              <a:ext uri="{FF2B5EF4-FFF2-40B4-BE49-F238E27FC236}">
                <a16:creationId xmlns:a16="http://schemas.microsoft.com/office/drawing/2014/main" id="{04952916-4E59-9420-2EB5-9762F906B03C}"/>
              </a:ext>
            </a:extLst>
          </p:cNvPr>
          <p:cNvSpPr txBox="1"/>
          <p:nvPr/>
        </p:nvSpPr>
        <p:spPr>
          <a:xfrm>
            <a:off x="624510" y="4112215"/>
            <a:ext cx="5485776" cy="29238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altLang="ko-KR" dirty="0"/>
              <a:t>Firebase</a:t>
            </a:r>
            <a:r>
              <a:rPr lang="ko-KR" altLang="en-US" dirty="0"/>
              <a:t>의 </a:t>
            </a:r>
            <a:r>
              <a:rPr lang="en-US" altLang="ko-KR" dirty="0"/>
              <a:t>Real-time database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altLang="ko-KR" dirty="0"/>
              <a:t>Detection</a:t>
            </a:r>
            <a:r>
              <a:rPr lang="ko-KR" altLang="en-US" dirty="0"/>
              <a:t>이루어지는 코드에서 </a:t>
            </a:r>
            <a:r>
              <a:rPr lang="en-US" altLang="ko-KR" dirty="0"/>
              <a:t>firebase</a:t>
            </a:r>
            <a:r>
              <a:rPr lang="ko-KR" altLang="en-US" dirty="0"/>
              <a:t>에서 가져온 </a:t>
            </a:r>
            <a:r>
              <a:rPr lang="en-US" altLang="ko-KR" dirty="0"/>
              <a:t>ID</a:t>
            </a:r>
            <a:r>
              <a:rPr lang="ko-KR" altLang="en-US" dirty="0"/>
              <a:t>와 </a:t>
            </a:r>
            <a:r>
              <a:rPr lang="en-US" altLang="ko-KR" dirty="0"/>
              <a:t>Key</a:t>
            </a:r>
            <a:r>
              <a:rPr lang="ko-KR" altLang="en-US" dirty="0"/>
              <a:t>를 인증</a:t>
            </a:r>
            <a:endParaRPr lang="en-US" altLang="ko-KR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altLang="ko-KR" dirty="0"/>
              <a:t>Output</a:t>
            </a:r>
            <a:r>
              <a:rPr lang="ko-KR" altLang="en-US" dirty="0"/>
              <a:t>에 해당하는 변수를 </a:t>
            </a:r>
            <a:r>
              <a:rPr lang="en-US" altLang="ko-KR" dirty="0"/>
              <a:t>firebase</a:t>
            </a:r>
            <a:r>
              <a:rPr lang="ko-KR" altLang="en-US" dirty="0"/>
              <a:t>로 업데이트</a:t>
            </a:r>
            <a:endParaRPr lang="en-US" altLang="ko-KR" dirty="0"/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en-US" altLang="ko-KR" dirty="0"/>
              <a:t>Firebase</a:t>
            </a:r>
            <a:r>
              <a:rPr lang="ko-KR" altLang="en-US" dirty="0"/>
              <a:t>에서 받아온 정보를 바탕으로</a:t>
            </a:r>
            <a:br>
              <a:rPr lang="en-US" altLang="ko-KR" dirty="0"/>
            </a:br>
            <a:r>
              <a:rPr lang="en-US" altLang="ko-KR" dirty="0"/>
              <a:t>Android Studio </a:t>
            </a:r>
            <a:r>
              <a:rPr lang="ko-KR" altLang="en-US" dirty="0"/>
              <a:t>내에서 시간 계산 알고리즘 구현</a:t>
            </a:r>
            <a:r>
              <a:rPr lang="en-US" altLang="ko-KR" dirty="0"/>
              <a:t>.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ko-KR" altLang="en-US" dirty="0"/>
              <a:t>예상 대기시간은 정해진 시간대에 따라 초록</a:t>
            </a:r>
            <a:r>
              <a:rPr lang="en-US" altLang="ko-KR" dirty="0"/>
              <a:t>, </a:t>
            </a:r>
            <a:r>
              <a:rPr lang="ko-KR" altLang="en-US" dirty="0"/>
              <a:t>주황</a:t>
            </a:r>
            <a:r>
              <a:rPr lang="en-US" altLang="ko-KR" dirty="0"/>
              <a:t>, </a:t>
            </a:r>
            <a:r>
              <a:rPr lang="ko-KR" altLang="en-US" dirty="0"/>
              <a:t>빨강색 불이 들어옴</a:t>
            </a:r>
            <a:endParaRPr lang="en-US" altLang="ko-KR" dirty="0"/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59F4DB9-5556-A3C2-ACC9-AC0DDB1180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287" y="1808175"/>
            <a:ext cx="6241600" cy="146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/>
        </p:nvCxnSpPr>
        <p:spPr>
          <a:xfrm>
            <a:off x="395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002">
            <a:extLst>
              <a:ext uri="{FF2B5EF4-FFF2-40B4-BE49-F238E27FC236}">
                <a16:creationId xmlns:a16="http://schemas.microsoft.com/office/drawing/2014/main" id="{E63ACCEA-4DE2-F2B7-5F4A-21F96DCB11B6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15" name="Object 8">
              <a:extLst>
                <a:ext uri="{FF2B5EF4-FFF2-40B4-BE49-F238E27FC236}">
                  <a16:creationId xmlns:a16="http://schemas.microsoft.com/office/drawing/2014/main" id="{04AB7DE4-54F9-7F67-C173-79C881257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sp>
        <p:nvSpPr>
          <p:cNvPr id="2" name="Object 4">
            <a:extLst>
              <a:ext uri="{FF2B5EF4-FFF2-40B4-BE49-F238E27FC236}">
                <a16:creationId xmlns:a16="http://schemas.microsoft.com/office/drawing/2014/main" id="{DB55FFA4-1C64-FE81-2BC1-485DF2DFC3E9}"/>
              </a:ext>
            </a:extLst>
          </p:cNvPr>
          <p:cNvSpPr txBox="1"/>
          <p:nvPr/>
        </p:nvSpPr>
        <p:spPr>
          <a:xfrm>
            <a:off x="4197059" y="284161"/>
            <a:ext cx="178068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03</a:t>
            </a:r>
            <a:endParaRPr lang="en-US" altLang="ko-KR" sz="1400" dirty="0"/>
          </a:p>
          <a:p>
            <a:r>
              <a:rPr lang="en-US" sz="1400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Application</a:t>
            </a:r>
          </a:p>
        </p:txBody>
      </p:sp>
      <p:grpSp>
        <p:nvGrpSpPr>
          <p:cNvPr id="3" name="그룹 1003">
            <a:extLst>
              <a:ext uri="{FF2B5EF4-FFF2-40B4-BE49-F238E27FC236}">
                <a16:creationId xmlns:a16="http://schemas.microsoft.com/office/drawing/2014/main" id="{9A5201BE-BEA9-669D-F4D9-F35EC396CFDB}"/>
              </a:ext>
            </a:extLst>
          </p:cNvPr>
          <p:cNvGrpSpPr/>
          <p:nvPr/>
        </p:nvGrpSpPr>
        <p:grpSpPr>
          <a:xfrm>
            <a:off x="4197059" y="809625"/>
            <a:ext cx="1744063" cy="73288"/>
            <a:chOff x="2294344" y="3800952"/>
            <a:chExt cx="1342815" cy="73288"/>
          </a:xfrm>
        </p:grpSpPr>
        <p:pic>
          <p:nvPicPr>
            <p:cNvPr id="4" name="Object 11">
              <a:extLst>
                <a:ext uri="{FF2B5EF4-FFF2-40B4-BE49-F238E27FC236}">
                  <a16:creationId xmlns:a16="http://schemas.microsoft.com/office/drawing/2014/main" id="{FABDBB12-D839-D42D-CA5C-DE1ADA0A8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9E6D5BF-0C2B-74AB-4DFB-729B1B5EE536}"/>
              </a:ext>
            </a:extLst>
          </p:cNvPr>
          <p:cNvCxnSpPr>
            <a:cxnSpLocks/>
          </p:cNvCxnSpPr>
          <p:nvPr/>
        </p:nvCxnSpPr>
        <p:spPr>
          <a:xfrm>
            <a:off x="5348287" y="1563454"/>
            <a:ext cx="0" cy="5453297"/>
          </a:xfrm>
          <a:prstGeom prst="line">
            <a:avLst/>
          </a:prstGeom>
          <a:ln w="15240" cmpd="sng">
            <a:solidFill>
              <a:srgbClr val="FC523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D093B552-D591-4BBC-6924-CBE3D47A54B2}"/>
              </a:ext>
            </a:extLst>
          </p:cNvPr>
          <p:cNvCxnSpPr/>
          <p:nvPr/>
        </p:nvCxnSpPr>
        <p:spPr>
          <a:xfrm>
            <a:off x="10301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bject 3">
            <a:extLst>
              <a:ext uri="{FF2B5EF4-FFF2-40B4-BE49-F238E27FC236}">
                <a16:creationId xmlns:a16="http://schemas.microsoft.com/office/drawing/2014/main" id="{D31634B9-DEC8-190F-ECB1-E1DC6508F98A}"/>
              </a:ext>
            </a:extLst>
          </p:cNvPr>
          <p:cNvSpPr txBox="1"/>
          <p:nvPr/>
        </p:nvSpPr>
        <p:spPr>
          <a:xfrm>
            <a:off x="624512" y="928734"/>
            <a:ext cx="116523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3-5</a:t>
            </a:r>
            <a:endParaRPr lang="en-US" dirty="0"/>
          </a:p>
        </p:txBody>
      </p:sp>
      <p:grpSp>
        <p:nvGrpSpPr>
          <p:cNvPr id="18" name="그룹 1001">
            <a:extLst>
              <a:ext uri="{FF2B5EF4-FFF2-40B4-BE49-F238E27FC236}">
                <a16:creationId xmlns:a16="http://schemas.microsoft.com/office/drawing/2014/main" id="{F9294A52-2B0E-EC20-379B-34CA9F61565E}"/>
              </a:ext>
            </a:extLst>
          </p:cNvPr>
          <p:cNvGrpSpPr/>
          <p:nvPr/>
        </p:nvGrpSpPr>
        <p:grpSpPr>
          <a:xfrm>
            <a:off x="1210283" y="1129233"/>
            <a:ext cx="1242404" cy="20939"/>
            <a:chOff x="1063081" y="1518058"/>
            <a:chExt cx="1242404" cy="20939"/>
          </a:xfrm>
        </p:grpSpPr>
        <p:pic>
          <p:nvPicPr>
            <p:cNvPr id="19" name="Object 5">
              <a:extLst>
                <a:ext uri="{FF2B5EF4-FFF2-40B4-BE49-F238E27FC236}">
                  <a16:creationId xmlns:a16="http://schemas.microsoft.com/office/drawing/2014/main" id="{B9E271CF-3B56-9F88-517C-0C3514A650D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10800000">
              <a:off x="1063081" y="1518058"/>
              <a:ext cx="1242404" cy="20939"/>
            </a:xfrm>
            <a:prstGeom prst="rect">
              <a:avLst/>
            </a:prstGeom>
          </p:spPr>
        </p:pic>
      </p:grpSp>
      <p:sp>
        <p:nvSpPr>
          <p:cNvPr id="20" name="Object 2">
            <a:extLst>
              <a:ext uri="{FF2B5EF4-FFF2-40B4-BE49-F238E27FC236}">
                <a16:creationId xmlns:a16="http://schemas.microsoft.com/office/drawing/2014/main" id="{2069E57F-AAEE-A112-2552-0190A3346BDB}"/>
              </a:ext>
            </a:extLst>
          </p:cNvPr>
          <p:cNvSpPr txBox="1"/>
          <p:nvPr/>
        </p:nvSpPr>
        <p:spPr>
          <a:xfrm>
            <a:off x="624511" y="1249709"/>
            <a:ext cx="3123575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리뷰 게시판</a:t>
            </a:r>
            <a:endParaRPr lang="en-US" altLang="ko-KR" sz="2000" b="1" dirty="0">
              <a:solidFill>
                <a:srgbClr val="FC5230"/>
              </a:solidFill>
              <a:latin typeface="Arial Rounded MT Bold" panose="020F0704030504030204" pitchFamily="34" charset="0"/>
              <a:ea typeface="나눔고딕" panose="020D0604000000000000" pitchFamily="50" charset="-127"/>
              <a:cs typeface="Jalnan OTF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C0F4172-015C-33BA-8358-FB7FB3102F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28" y="1765136"/>
            <a:ext cx="2591539" cy="5251615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DA7190B1-8F70-8D94-7B7B-D8FFFDAB34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018" y="1772928"/>
            <a:ext cx="2591539" cy="525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6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5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01673" y="2981205"/>
            <a:ext cx="6477000" cy="11695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ko-KR" altLang="en-US" sz="7000" dirty="0">
                <a:solidFill>
                  <a:srgbClr val="FFFFFF"/>
                </a:solidFill>
                <a:latin typeface="Jalnan OTF" pitchFamily="34" charset="0"/>
                <a:cs typeface="Jalnan OTF" pitchFamily="34" charset="0"/>
              </a:rPr>
              <a:t>현장 시연 </a:t>
            </a:r>
            <a:r>
              <a:rPr lang="en-US" altLang="ko-KR" sz="7000" dirty="0">
                <a:solidFill>
                  <a:srgbClr val="FFFFFF"/>
                </a:solidFill>
                <a:latin typeface="Jalnan OTF" pitchFamily="34" charset="0"/>
                <a:cs typeface="Jalnan OTF" pitchFamily="34" charset="0"/>
              </a:rPr>
              <a:t>Test</a:t>
            </a:r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644378" y="1959310"/>
            <a:ext cx="459579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8C6720D-754F-2B89-F487-E31B67826F58}"/>
              </a:ext>
            </a:extLst>
          </p:cNvPr>
          <p:cNvCxnSpPr>
            <a:cxnSpLocks/>
          </p:cNvCxnSpPr>
          <p:nvPr/>
        </p:nvCxnSpPr>
        <p:spPr>
          <a:xfrm flipH="1">
            <a:off x="2001673" y="4167005"/>
            <a:ext cx="6477000" cy="0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7C6B42E6-05EF-0BEC-9FB0-521ED9228CF7}"/>
              </a:ext>
            </a:extLst>
          </p:cNvPr>
          <p:cNvCxnSpPr>
            <a:cxnSpLocks/>
          </p:cNvCxnSpPr>
          <p:nvPr/>
        </p:nvCxnSpPr>
        <p:spPr>
          <a:xfrm flipH="1">
            <a:off x="2001673" y="2981205"/>
            <a:ext cx="6477000" cy="0"/>
          </a:xfrm>
          <a:prstGeom prst="line">
            <a:avLst/>
          </a:prstGeom>
          <a:ln w="25400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ject 2">
            <a:extLst>
              <a:ext uri="{FF2B5EF4-FFF2-40B4-BE49-F238E27FC236}">
                <a16:creationId xmlns:a16="http://schemas.microsoft.com/office/drawing/2014/main" id="{40ACE4FF-99BC-6322-B407-587AF977E45B}"/>
              </a:ext>
            </a:extLst>
          </p:cNvPr>
          <p:cNvSpPr txBox="1"/>
          <p:nvPr/>
        </p:nvSpPr>
        <p:spPr>
          <a:xfrm>
            <a:off x="2001673" y="4464765"/>
            <a:ext cx="6477000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ko-KR" sz="3000" dirty="0">
                <a:solidFill>
                  <a:srgbClr val="FFFFFF"/>
                </a:solidFill>
                <a:latin typeface="Jalnan OTF" pitchFamily="34" charset="0"/>
                <a:cs typeface="Jalnan OTF" pitchFamily="34" charset="0"/>
              </a:rPr>
              <a:t>Desktop</a:t>
            </a:r>
            <a:r>
              <a:rPr lang="ko-KR" altLang="en-US" sz="3000" dirty="0">
                <a:solidFill>
                  <a:srgbClr val="FFFFFF"/>
                </a:solidFill>
                <a:latin typeface="Jalnan OTF" pitchFamily="34" charset="0"/>
                <a:cs typeface="Jalnan OTF" pitchFamily="34" charset="0"/>
              </a:rPr>
              <a:t> 원격 연결</a:t>
            </a:r>
            <a:endParaRPr lang="en-US" sz="3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0A03B5A-689D-C45E-E3D8-A587D486D25E}"/>
              </a:ext>
            </a:extLst>
          </p:cNvPr>
          <p:cNvSpPr/>
          <p:nvPr/>
        </p:nvSpPr>
        <p:spPr>
          <a:xfrm>
            <a:off x="0" y="-1"/>
            <a:ext cx="10696575" cy="1419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002">
            <a:extLst>
              <a:ext uri="{FF2B5EF4-FFF2-40B4-BE49-F238E27FC236}">
                <a16:creationId xmlns:a16="http://schemas.microsoft.com/office/drawing/2014/main" id="{CF722941-1F74-EBC4-42E2-2E0B22A93A4F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20" name="Object 8">
              <a:extLst>
                <a:ext uri="{FF2B5EF4-FFF2-40B4-BE49-F238E27FC236}">
                  <a16:creationId xmlns:a16="http://schemas.microsoft.com/office/drawing/2014/main" id="{B8507BA1-869D-7132-0985-ED976F49B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grpSp>
        <p:nvGrpSpPr>
          <p:cNvPr id="22" name="그룹 1003">
            <a:extLst>
              <a:ext uri="{FF2B5EF4-FFF2-40B4-BE49-F238E27FC236}">
                <a16:creationId xmlns:a16="http://schemas.microsoft.com/office/drawing/2014/main" id="{09C95825-644B-6ACF-DB6E-833DD06E5CCB}"/>
              </a:ext>
            </a:extLst>
          </p:cNvPr>
          <p:cNvGrpSpPr/>
          <p:nvPr/>
        </p:nvGrpSpPr>
        <p:grpSpPr>
          <a:xfrm>
            <a:off x="5977739" y="809625"/>
            <a:ext cx="1744063" cy="73288"/>
            <a:chOff x="2294344" y="3800952"/>
            <a:chExt cx="1342815" cy="73288"/>
          </a:xfrm>
        </p:grpSpPr>
        <p:pic>
          <p:nvPicPr>
            <p:cNvPr id="23" name="Object 11">
              <a:extLst>
                <a:ext uri="{FF2B5EF4-FFF2-40B4-BE49-F238E27FC236}">
                  <a16:creationId xmlns:a16="http://schemas.microsoft.com/office/drawing/2014/main" id="{B892A476-8C84-CE0B-9F3B-55438F637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14B436AC-0890-886C-D220-C06336340E0D}"/>
              </a:ext>
            </a:extLst>
          </p:cNvPr>
          <p:cNvSpPr/>
          <p:nvPr/>
        </p:nvSpPr>
        <p:spPr>
          <a:xfrm>
            <a:off x="0" y="6143625"/>
            <a:ext cx="10696575" cy="1419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93E25B39-C67B-E3E1-FCEE-6F1682949078}"/>
              </a:ext>
            </a:extLst>
          </p:cNvPr>
          <p:cNvSpPr txBox="1"/>
          <p:nvPr/>
        </p:nvSpPr>
        <p:spPr>
          <a:xfrm>
            <a:off x="5977739" y="284161"/>
            <a:ext cx="178068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04</a:t>
            </a:r>
            <a:endParaRPr lang="en-US" altLang="ko-KR" sz="1400" dirty="0"/>
          </a:p>
          <a:p>
            <a:r>
              <a:rPr lang="en-US" sz="1400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008175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B308C7A5-17CD-7225-9BB2-788405EC1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690928"/>
              </p:ext>
            </p:extLst>
          </p:nvPr>
        </p:nvGraphicFramePr>
        <p:xfrm>
          <a:off x="2793584" y="2353188"/>
          <a:ext cx="7251613" cy="3998991"/>
        </p:xfrm>
        <a:graphic>
          <a:graphicData uri="http://schemas.openxmlformats.org/drawingml/2006/table">
            <a:tbl>
              <a:tblPr firstRow="1" bandRow="1"/>
              <a:tblGrid>
                <a:gridCol w="3417423">
                  <a:extLst>
                    <a:ext uri="{9D8B030D-6E8A-4147-A177-3AD203B41FA5}">
                      <a16:colId xmlns:a16="http://schemas.microsoft.com/office/drawing/2014/main" val="4081664452"/>
                    </a:ext>
                  </a:extLst>
                </a:gridCol>
                <a:gridCol w="383419">
                  <a:extLst>
                    <a:ext uri="{9D8B030D-6E8A-4147-A177-3AD203B41FA5}">
                      <a16:colId xmlns:a16="http://schemas.microsoft.com/office/drawing/2014/main" val="4250950060"/>
                    </a:ext>
                  </a:extLst>
                </a:gridCol>
                <a:gridCol w="383419">
                  <a:extLst>
                    <a:ext uri="{9D8B030D-6E8A-4147-A177-3AD203B41FA5}">
                      <a16:colId xmlns:a16="http://schemas.microsoft.com/office/drawing/2014/main" val="2376778960"/>
                    </a:ext>
                  </a:extLst>
                </a:gridCol>
                <a:gridCol w="383419">
                  <a:extLst>
                    <a:ext uri="{9D8B030D-6E8A-4147-A177-3AD203B41FA5}">
                      <a16:colId xmlns:a16="http://schemas.microsoft.com/office/drawing/2014/main" val="2520921224"/>
                    </a:ext>
                  </a:extLst>
                </a:gridCol>
                <a:gridCol w="383419">
                  <a:extLst>
                    <a:ext uri="{9D8B030D-6E8A-4147-A177-3AD203B41FA5}">
                      <a16:colId xmlns:a16="http://schemas.microsoft.com/office/drawing/2014/main" val="2603186696"/>
                    </a:ext>
                  </a:extLst>
                </a:gridCol>
                <a:gridCol w="383419">
                  <a:extLst>
                    <a:ext uri="{9D8B030D-6E8A-4147-A177-3AD203B41FA5}">
                      <a16:colId xmlns:a16="http://schemas.microsoft.com/office/drawing/2014/main" val="2090103069"/>
                    </a:ext>
                  </a:extLst>
                </a:gridCol>
                <a:gridCol w="383419">
                  <a:extLst>
                    <a:ext uri="{9D8B030D-6E8A-4147-A177-3AD203B41FA5}">
                      <a16:colId xmlns:a16="http://schemas.microsoft.com/office/drawing/2014/main" val="2260898392"/>
                    </a:ext>
                  </a:extLst>
                </a:gridCol>
                <a:gridCol w="383419">
                  <a:extLst>
                    <a:ext uri="{9D8B030D-6E8A-4147-A177-3AD203B41FA5}">
                      <a16:colId xmlns:a16="http://schemas.microsoft.com/office/drawing/2014/main" val="3461843485"/>
                    </a:ext>
                  </a:extLst>
                </a:gridCol>
                <a:gridCol w="383419">
                  <a:extLst>
                    <a:ext uri="{9D8B030D-6E8A-4147-A177-3AD203B41FA5}">
                      <a16:colId xmlns:a16="http://schemas.microsoft.com/office/drawing/2014/main" val="1268449142"/>
                    </a:ext>
                  </a:extLst>
                </a:gridCol>
                <a:gridCol w="383419">
                  <a:extLst>
                    <a:ext uri="{9D8B030D-6E8A-4147-A177-3AD203B41FA5}">
                      <a16:colId xmlns:a16="http://schemas.microsoft.com/office/drawing/2014/main" val="2045872930"/>
                    </a:ext>
                  </a:extLst>
                </a:gridCol>
                <a:gridCol w="383419">
                  <a:extLst>
                    <a:ext uri="{9D8B030D-6E8A-4147-A177-3AD203B41FA5}">
                      <a16:colId xmlns:a16="http://schemas.microsoft.com/office/drawing/2014/main" val="1327989312"/>
                    </a:ext>
                  </a:extLst>
                </a:gridCol>
              </a:tblGrid>
              <a:tr h="3689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b="1" dirty="0"/>
                        <a:t>개발 내용</a:t>
                      </a:r>
                    </a:p>
                  </a:txBody>
                  <a:tcPr marL="98540" marR="98540" marT="49270" marB="4927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6</a:t>
                      </a:r>
                      <a:endParaRPr lang="ko-KR" altLang="en-US" sz="1100" dirty="0"/>
                    </a:p>
                  </a:txBody>
                  <a:tcPr marL="98540" marR="98540" marT="49270" marB="49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7</a:t>
                      </a:r>
                      <a:endParaRPr lang="ko-KR" altLang="en-US" sz="1100" dirty="0"/>
                    </a:p>
                  </a:txBody>
                  <a:tcPr marL="98540" marR="98540" marT="49270" marB="49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8</a:t>
                      </a:r>
                      <a:endParaRPr lang="ko-KR" altLang="en-US" sz="1100" dirty="0"/>
                    </a:p>
                  </a:txBody>
                  <a:tcPr marL="98540" marR="98540" marT="49270" marB="49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9</a:t>
                      </a:r>
                      <a:endParaRPr lang="ko-KR" altLang="en-US" sz="1100" dirty="0"/>
                    </a:p>
                  </a:txBody>
                  <a:tcPr marL="98540" marR="98540" marT="49270" marB="49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10</a:t>
                      </a:r>
                      <a:endParaRPr lang="ko-KR" altLang="en-US" sz="1100" dirty="0"/>
                    </a:p>
                  </a:txBody>
                  <a:tcPr marL="98540" marR="98540" marT="49270" marB="49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11</a:t>
                      </a:r>
                      <a:endParaRPr lang="ko-KR" altLang="en-US" sz="1100" dirty="0"/>
                    </a:p>
                  </a:txBody>
                  <a:tcPr marL="98540" marR="98540" marT="49270" marB="49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12</a:t>
                      </a:r>
                      <a:endParaRPr lang="ko-KR" altLang="en-US" sz="1100" dirty="0"/>
                    </a:p>
                  </a:txBody>
                  <a:tcPr marL="98540" marR="98540" marT="49270" marB="49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13</a:t>
                      </a:r>
                      <a:endParaRPr lang="ko-KR" altLang="en-US" sz="1100" dirty="0"/>
                    </a:p>
                  </a:txBody>
                  <a:tcPr marL="98540" marR="98540" marT="49270" marB="49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/>
                        <a:t>14</a:t>
                      </a:r>
                      <a:endParaRPr lang="ko-KR" altLang="en-US" sz="1100" dirty="0"/>
                    </a:p>
                  </a:txBody>
                  <a:tcPr marL="98540" marR="98540" marT="49270" marB="49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15</a:t>
                      </a:r>
                      <a:endParaRPr lang="ko-KR" altLang="en-US" sz="1100" dirty="0"/>
                    </a:p>
                  </a:txBody>
                  <a:tcPr marL="98540" marR="98540" marT="49270" marB="4927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17424"/>
                  </a:ext>
                </a:extLst>
              </a:tr>
              <a:tr h="397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Yolov5x </a:t>
                      </a:r>
                      <a:r>
                        <a:rPr lang="ko-KR" altLang="en-US" sz="1100" dirty="0"/>
                        <a:t>학습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모델 </a:t>
                      </a:r>
                      <a:r>
                        <a:rPr lang="en-US" altLang="ko-KR" sz="1100" dirty="0"/>
                        <a:t>prototype </a:t>
                      </a:r>
                      <a:r>
                        <a:rPr lang="ko-KR" altLang="en-US" sz="1100" dirty="0"/>
                        <a:t>생성 및 추출</a:t>
                      </a:r>
                      <a:endParaRPr lang="en-US" altLang="ko-KR" sz="1100" dirty="0"/>
                    </a:p>
                  </a:txBody>
                  <a:tcPr marL="98540" marR="98540" marT="49270" marB="49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8448286"/>
                  </a:ext>
                </a:extLst>
              </a:tr>
              <a:tr h="397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Fine-tuning(evolution)</a:t>
                      </a:r>
                    </a:p>
                  </a:txBody>
                  <a:tcPr marL="98540" marR="98540" marT="49270" marB="49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374417"/>
                  </a:ext>
                </a:extLst>
              </a:tr>
              <a:tr h="397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Real-Time object detection </a:t>
                      </a:r>
                      <a:r>
                        <a:rPr lang="ko-KR" altLang="en-US" sz="1100" dirty="0"/>
                        <a:t>작동 테스트 및 최적화</a:t>
                      </a:r>
                    </a:p>
                  </a:txBody>
                  <a:tcPr marL="98540" marR="98540" marT="49270" marB="49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99468448"/>
                  </a:ext>
                </a:extLst>
              </a:tr>
              <a:tr h="397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100" dirty="0"/>
                        <a:t>Application </a:t>
                      </a:r>
                      <a:r>
                        <a:rPr lang="ko-KR" altLang="en-US" sz="1100" dirty="0"/>
                        <a:t>회원가입 기능 구현</a:t>
                      </a:r>
                    </a:p>
                  </a:txBody>
                  <a:tcPr marL="98540" marR="98540" marT="49270" marB="49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11419034"/>
                  </a:ext>
                </a:extLst>
              </a:tr>
              <a:tr h="397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디자인 설계</a:t>
                      </a:r>
                    </a:p>
                  </a:txBody>
                  <a:tcPr marL="98540" marR="98540" marT="49270" marB="49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11143561"/>
                  </a:ext>
                </a:extLst>
              </a:tr>
              <a:tr h="397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100" dirty="0"/>
                        <a:t>평일 학식 평균 배식 시간 측정</a:t>
                      </a:r>
                    </a:p>
                  </a:txBody>
                  <a:tcPr marL="98540" marR="98540" marT="49270" marB="49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0938872"/>
                  </a:ext>
                </a:extLst>
              </a:tr>
              <a:tr h="3974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오류 검출</a:t>
                      </a:r>
                      <a:r>
                        <a:rPr lang="en-US" altLang="ko-KR" sz="1100" dirty="0"/>
                        <a:t>, </a:t>
                      </a:r>
                      <a:r>
                        <a:rPr lang="ko-KR" altLang="en-US" sz="1100" dirty="0"/>
                        <a:t>부가 기능 검토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및 구현</a:t>
                      </a:r>
                    </a:p>
                  </a:txBody>
                  <a:tcPr marL="98540" marR="98540" marT="49270" marB="49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5863790"/>
                  </a:ext>
                </a:extLst>
              </a:tr>
              <a:tr h="3974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최종 검토</a:t>
                      </a:r>
                    </a:p>
                  </a:txBody>
                  <a:tcPr marL="98540" marR="98540" marT="49270" marB="49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>
                        <a:solidFill>
                          <a:srgbClr val="FFC000"/>
                        </a:solidFill>
                      </a:endParaRPr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6527754"/>
                  </a:ext>
                </a:extLst>
              </a:tr>
              <a:tr h="39742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최종 발표</a:t>
                      </a:r>
                    </a:p>
                  </a:txBody>
                  <a:tcPr marL="98540" marR="98540" marT="49270" marB="4927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2000" dirty="0"/>
                    </a:p>
                  </a:txBody>
                  <a:tcPr marL="98540" marR="98540" marT="49270" marB="49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994752"/>
                  </a:ext>
                </a:extLst>
              </a:tr>
            </a:tbl>
          </a:graphicData>
        </a:graphic>
      </p:graphicFrame>
      <p:grpSp>
        <p:nvGrpSpPr>
          <p:cNvPr id="8" name="그룹 1002">
            <a:extLst>
              <a:ext uri="{FF2B5EF4-FFF2-40B4-BE49-F238E27FC236}">
                <a16:creationId xmlns:a16="http://schemas.microsoft.com/office/drawing/2014/main" id="{9E0EFF5C-AC1F-853C-A4A3-84A3E9C546D5}"/>
              </a:ext>
            </a:extLst>
          </p:cNvPr>
          <p:cNvGrpSpPr/>
          <p:nvPr/>
        </p:nvGrpSpPr>
        <p:grpSpPr>
          <a:xfrm>
            <a:off x="690238" y="814114"/>
            <a:ext cx="8903401" cy="72000"/>
            <a:chOff x="618295" y="3800952"/>
            <a:chExt cx="9458649" cy="73288"/>
          </a:xfrm>
        </p:grpSpPr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2AA45EC2-1C4B-DEE9-3999-59E9DD9A3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8295" y="3800952"/>
              <a:ext cx="9458649" cy="73288"/>
            </a:xfrm>
            <a:prstGeom prst="rect">
              <a:avLst/>
            </a:prstGeom>
          </p:spPr>
        </p:pic>
      </p:grpSp>
      <p:grpSp>
        <p:nvGrpSpPr>
          <p:cNvPr id="25" name="그룹 1003">
            <a:extLst>
              <a:ext uri="{FF2B5EF4-FFF2-40B4-BE49-F238E27FC236}">
                <a16:creationId xmlns:a16="http://schemas.microsoft.com/office/drawing/2014/main" id="{5506F4CE-E607-D174-A539-C0DD83860182}"/>
              </a:ext>
            </a:extLst>
          </p:cNvPr>
          <p:cNvGrpSpPr/>
          <p:nvPr/>
        </p:nvGrpSpPr>
        <p:grpSpPr>
          <a:xfrm>
            <a:off x="7849658" y="809625"/>
            <a:ext cx="1744063" cy="73288"/>
            <a:chOff x="2294344" y="3800952"/>
            <a:chExt cx="1342815" cy="73288"/>
          </a:xfrm>
        </p:grpSpPr>
        <p:pic>
          <p:nvPicPr>
            <p:cNvPr id="26" name="Object 11">
              <a:extLst>
                <a:ext uri="{FF2B5EF4-FFF2-40B4-BE49-F238E27FC236}">
                  <a16:creationId xmlns:a16="http://schemas.microsoft.com/office/drawing/2014/main" id="{468EF298-90C4-D476-A1DB-CB747BABDA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94344" y="3800952"/>
              <a:ext cx="1342815" cy="73288"/>
            </a:xfrm>
            <a:prstGeom prst="rect">
              <a:avLst/>
            </a:prstGeom>
          </p:spPr>
        </p:pic>
      </p:grpSp>
      <p:sp>
        <p:nvSpPr>
          <p:cNvPr id="27" name="Object 4">
            <a:extLst>
              <a:ext uri="{FF2B5EF4-FFF2-40B4-BE49-F238E27FC236}">
                <a16:creationId xmlns:a16="http://schemas.microsoft.com/office/drawing/2014/main" id="{403353DC-9500-331F-F783-453E6BF5A81B}"/>
              </a:ext>
            </a:extLst>
          </p:cNvPr>
          <p:cNvSpPr txBox="1"/>
          <p:nvPr/>
        </p:nvSpPr>
        <p:spPr>
          <a:xfrm>
            <a:off x="7849658" y="284161"/>
            <a:ext cx="178068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ko-KR" sz="1400" dirty="0">
                <a:solidFill>
                  <a:srgbClr val="FC5230"/>
                </a:solidFill>
                <a:latin typeface="Jalnan OTF" pitchFamily="34" charset="0"/>
                <a:cs typeface="Jalnan OTF" pitchFamily="34" charset="0"/>
              </a:rPr>
              <a:t>05</a:t>
            </a:r>
            <a:endParaRPr lang="en-US" altLang="ko-KR" sz="1400" dirty="0"/>
          </a:p>
          <a:p>
            <a:r>
              <a:rPr lang="en-US" sz="1400" b="1" dirty="0">
                <a:solidFill>
                  <a:srgbClr val="3B3B3B"/>
                </a:solidFill>
                <a:latin typeface="S-Core Dream 6 Bold" pitchFamily="34" charset="0"/>
                <a:cs typeface="S-Core Dream 6 Bold" pitchFamily="34" charset="0"/>
              </a:rPr>
              <a:t>Project Result</a:t>
            </a:r>
          </a:p>
        </p:txBody>
      </p:sp>
      <p:sp>
        <p:nvSpPr>
          <p:cNvPr id="32" name="화살표: 갈매기형 수장 31">
            <a:extLst>
              <a:ext uri="{FF2B5EF4-FFF2-40B4-BE49-F238E27FC236}">
                <a16:creationId xmlns:a16="http://schemas.microsoft.com/office/drawing/2014/main" id="{C449F6D5-CCEA-37CA-FFA8-1519A7431515}"/>
              </a:ext>
            </a:extLst>
          </p:cNvPr>
          <p:cNvSpPr/>
          <p:nvPr/>
        </p:nvSpPr>
        <p:spPr>
          <a:xfrm>
            <a:off x="2269208" y="6017657"/>
            <a:ext cx="439153" cy="228600"/>
          </a:xfrm>
          <a:prstGeom prst="chevron">
            <a:avLst>
              <a:gd name="adj" fmla="val 40000"/>
            </a:avLst>
          </a:prstGeom>
          <a:solidFill>
            <a:srgbClr val="FC523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EAA569-2D13-0A2F-E378-455EF71C3D44}"/>
              </a:ext>
            </a:extLst>
          </p:cNvPr>
          <p:cNvSpPr txBox="1"/>
          <p:nvPr/>
        </p:nvSpPr>
        <p:spPr>
          <a:xfrm>
            <a:off x="242887" y="5941338"/>
            <a:ext cx="23040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/>
              <a:t>3. </a:t>
            </a:r>
            <a:r>
              <a:rPr lang="ko-KR" altLang="en-US" sz="2200" b="1" dirty="0"/>
              <a:t>최종 발표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7875AF7-EB7E-DA1A-5D4B-CBCD7B7FFBA2}"/>
              </a:ext>
            </a:extLst>
          </p:cNvPr>
          <p:cNvCxnSpPr>
            <a:cxnSpLocks/>
          </p:cNvCxnSpPr>
          <p:nvPr/>
        </p:nvCxnSpPr>
        <p:spPr>
          <a:xfrm>
            <a:off x="395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93CF6B2-1EE8-8B42-9AC5-AE2F96D1695B}"/>
              </a:ext>
            </a:extLst>
          </p:cNvPr>
          <p:cNvCxnSpPr/>
          <p:nvPr/>
        </p:nvCxnSpPr>
        <p:spPr>
          <a:xfrm>
            <a:off x="10301287" y="1563454"/>
            <a:ext cx="0" cy="5418371"/>
          </a:xfrm>
          <a:prstGeom prst="line">
            <a:avLst/>
          </a:prstGeom>
          <a:ln w="25400">
            <a:solidFill>
              <a:srgbClr val="FC52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Object 2">
            <a:extLst>
              <a:ext uri="{FF2B5EF4-FFF2-40B4-BE49-F238E27FC236}">
                <a16:creationId xmlns:a16="http://schemas.microsoft.com/office/drawing/2014/main" id="{E10A0913-DFA2-7DBC-7CCF-3A1025230A3C}"/>
              </a:ext>
            </a:extLst>
          </p:cNvPr>
          <p:cNvSpPr txBox="1"/>
          <p:nvPr/>
        </p:nvSpPr>
        <p:spPr>
          <a:xfrm>
            <a:off x="624511" y="1671162"/>
            <a:ext cx="312357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800" b="1" dirty="0">
                <a:solidFill>
                  <a:srgbClr val="FC5230"/>
                </a:solidFill>
                <a:latin typeface="Arial Rounded MT Bold" panose="020F0704030504030204" pitchFamily="34" charset="0"/>
                <a:ea typeface="나눔고딕" panose="020D0604000000000000" pitchFamily="50" charset="-127"/>
                <a:cs typeface="Jalnan OTF" pitchFamily="34" charset="0"/>
              </a:rPr>
              <a:t>계획 이행 확인</a:t>
            </a:r>
            <a:endParaRPr lang="en-US" altLang="ko-KR" sz="2800" b="1" dirty="0">
              <a:solidFill>
                <a:srgbClr val="FC5230"/>
              </a:solidFill>
              <a:latin typeface="Arial Rounded MT Bold" panose="020F0704030504030204" pitchFamily="34" charset="0"/>
              <a:ea typeface="나눔고딕" panose="020D0604000000000000" pitchFamily="50" charset="-127"/>
              <a:cs typeface="Jalnan OTF" pitchFamily="34" charset="0"/>
            </a:endParaRPr>
          </a:p>
        </p:txBody>
      </p:sp>
      <p:sp>
        <p:nvSpPr>
          <p:cNvPr id="46" name="Object 3">
            <a:extLst>
              <a:ext uri="{FF2B5EF4-FFF2-40B4-BE49-F238E27FC236}">
                <a16:creationId xmlns:a16="http://schemas.microsoft.com/office/drawing/2014/main" id="{A27C1B7B-B95F-D63D-F2CD-7B72D657E439}"/>
              </a:ext>
            </a:extLst>
          </p:cNvPr>
          <p:cNvSpPr txBox="1"/>
          <p:nvPr/>
        </p:nvSpPr>
        <p:spPr>
          <a:xfrm>
            <a:off x="624512" y="1350187"/>
            <a:ext cx="1165232" cy="400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dirty="0">
                <a:solidFill>
                  <a:srgbClr val="FC5230"/>
                </a:solidFill>
                <a:latin typeface="Jalnan OTF" pitchFamily="34" charset="0"/>
              </a:rPr>
              <a:t>4-1</a:t>
            </a:r>
            <a:endParaRPr lang="en-US" dirty="0"/>
          </a:p>
        </p:txBody>
      </p:sp>
      <p:grpSp>
        <p:nvGrpSpPr>
          <p:cNvPr id="57" name="그룹 1001">
            <a:extLst>
              <a:ext uri="{FF2B5EF4-FFF2-40B4-BE49-F238E27FC236}">
                <a16:creationId xmlns:a16="http://schemas.microsoft.com/office/drawing/2014/main" id="{0D93FDC7-24E3-FB8C-24B3-9FA5A222FFFD}"/>
              </a:ext>
            </a:extLst>
          </p:cNvPr>
          <p:cNvGrpSpPr/>
          <p:nvPr/>
        </p:nvGrpSpPr>
        <p:grpSpPr>
          <a:xfrm>
            <a:off x="1210283" y="1550686"/>
            <a:ext cx="1242404" cy="20939"/>
            <a:chOff x="1063081" y="1518058"/>
            <a:chExt cx="1242404" cy="20939"/>
          </a:xfrm>
        </p:grpSpPr>
        <p:pic>
          <p:nvPicPr>
            <p:cNvPr id="58" name="Object 5">
              <a:extLst>
                <a:ext uri="{FF2B5EF4-FFF2-40B4-BE49-F238E27FC236}">
                  <a16:creationId xmlns:a16="http://schemas.microsoft.com/office/drawing/2014/main" id="{E3609AB9-AC9B-D188-B604-BD8CF1305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10800000">
              <a:off x="1063081" y="1518058"/>
              <a:ext cx="1242404" cy="209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5627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5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949" y="2398106"/>
            <a:ext cx="8654538" cy="147732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9000" dirty="0">
                <a:solidFill>
                  <a:srgbClr val="FFFFFF"/>
                </a:solidFill>
                <a:latin typeface="Jalnan OTF" pitchFamily="34" charset="0"/>
                <a:cs typeface="Jalnan OTF" pitchFamily="34" charset="0"/>
              </a:rPr>
              <a:t>Thank you.</a:t>
            </a:r>
            <a:endParaRPr lang="en-US" sz="9000" dirty="0"/>
          </a:p>
        </p:txBody>
      </p:sp>
      <p:sp>
        <p:nvSpPr>
          <p:cNvPr id="3" name="Object 3"/>
          <p:cNvSpPr txBox="1"/>
          <p:nvPr/>
        </p:nvSpPr>
        <p:spPr>
          <a:xfrm>
            <a:off x="644378" y="1959310"/>
            <a:ext cx="4595795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dirty="0"/>
          </a:p>
        </p:txBody>
      </p:sp>
      <p:sp>
        <p:nvSpPr>
          <p:cNvPr id="4" name="Object 4"/>
          <p:cNvSpPr txBox="1"/>
          <p:nvPr/>
        </p:nvSpPr>
        <p:spPr>
          <a:xfrm>
            <a:off x="644378" y="5329237"/>
            <a:ext cx="3924267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8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팀 </a:t>
            </a:r>
            <a:r>
              <a:rPr lang="en-US" altLang="ko-KR" sz="28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:</a:t>
            </a:r>
            <a:r>
              <a:rPr lang="ko-KR" altLang="en-US" sz="28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 </a:t>
            </a:r>
            <a:r>
              <a:rPr lang="en-US" altLang="ko-KR" sz="2800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L T E</a:t>
            </a:r>
            <a:endParaRPr lang="en-US" sz="2800" dirty="0">
              <a:solidFill>
                <a:srgbClr val="FFFFFF"/>
              </a:solidFill>
              <a:latin typeface="S-Core Dream 6 Bold" pitchFamily="34" charset="0"/>
              <a:cs typeface="S-Core Dream 6 Bold" pitchFamily="34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27181" y="5329237"/>
            <a:ext cx="3924267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ko-KR" altLang="en-US" sz="2000" b="1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김     혁</a:t>
            </a:r>
            <a:endParaRPr lang="en-US" altLang="ko-KR" sz="2000" b="1" dirty="0">
              <a:solidFill>
                <a:srgbClr val="FFFFFF"/>
              </a:solidFill>
              <a:latin typeface="S-Core Dream 6 Bold" pitchFamily="34" charset="0"/>
              <a:cs typeface="S-Core Dream 6 Bold" pitchFamily="34" charset="0"/>
            </a:endParaRPr>
          </a:p>
          <a:p>
            <a:r>
              <a:rPr lang="ko-KR" altLang="en-US" sz="2000" b="1" dirty="0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이동훈</a:t>
            </a:r>
            <a:endParaRPr lang="en-US" altLang="ko-KR" sz="2000" b="1" dirty="0">
              <a:solidFill>
                <a:srgbClr val="FFFFFF"/>
              </a:solidFill>
              <a:latin typeface="S-Core Dream 6 Bold" pitchFamily="34" charset="0"/>
              <a:cs typeface="S-Core Dream 6 Bold" pitchFamily="34" charset="0"/>
            </a:endParaRPr>
          </a:p>
          <a:p>
            <a:r>
              <a:rPr lang="ko-KR" altLang="en-US" sz="2000" b="1" dirty="0" err="1">
                <a:solidFill>
                  <a:srgbClr val="FFFFFF"/>
                </a:solidFill>
                <a:latin typeface="S-Core Dream 6 Bold" pitchFamily="34" charset="0"/>
                <a:cs typeface="S-Core Dream 6 Bold" pitchFamily="34" charset="0"/>
              </a:rPr>
              <a:t>전성권</a:t>
            </a:r>
            <a:endParaRPr lang="en-US" sz="2000" b="1" dirty="0">
              <a:solidFill>
                <a:srgbClr val="FFFFFF"/>
              </a:solidFill>
              <a:latin typeface="S-Core Dream 6 Bold" pitchFamily="34" charset="0"/>
              <a:cs typeface="S-Core Dream 6 Bold" pitchFamily="34" charset="0"/>
            </a:endParaRPr>
          </a:p>
        </p:txBody>
      </p:sp>
      <p:grpSp>
        <p:nvGrpSpPr>
          <p:cNvPr id="1001" name="그룹 1001"/>
          <p:cNvGrpSpPr/>
          <p:nvPr/>
        </p:nvGrpSpPr>
        <p:grpSpPr>
          <a:xfrm>
            <a:off x="644378" y="5113649"/>
            <a:ext cx="2174563" cy="20939"/>
            <a:chOff x="644378" y="5113649"/>
            <a:chExt cx="2174563" cy="20939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4378" y="5113649"/>
              <a:ext cx="2174563" cy="20939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027181" y="5113649"/>
            <a:ext cx="1866453" cy="20939"/>
            <a:chOff x="4027181" y="5113649"/>
            <a:chExt cx="1866453" cy="20939"/>
          </a:xfrm>
        </p:grpSpPr>
        <p:pic>
          <p:nvPicPr>
            <p:cNvPr id="10" name="Object 9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27181" y="5113649"/>
              <a:ext cx="1866453" cy="2093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4225</TotalTime>
  <Words>402</Words>
  <Application>Microsoft Office PowerPoint</Application>
  <PresentationFormat>사용자 지정</PresentationFormat>
  <Paragraphs>135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Jalnan OTF</vt:lpstr>
      <vt:lpstr>S-Core Dream 3 Light</vt:lpstr>
      <vt:lpstr>S-Core Dream 6 Bold</vt:lpstr>
      <vt:lpstr>나눔고딕</vt:lpstr>
      <vt:lpstr>Arial</vt:lpstr>
      <vt:lpstr>Arial Rounded MT Bold</vt:lpstr>
      <vt:lpstr>Calibri</vt:lpstr>
      <vt:lpstr>Symbol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이 동훈</cp:lastModifiedBy>
  <cp:revision>22</cp:revision>
  <dcterms:created xsi:type="dcterms:W3CDTF">2022-09-19T21:13:31Z</dcterms:created>
  <dcterms:modified xsi:type="dcterms:W3CDTF">2022-12-06T07:56:50Z</dcterms:modified>
</cp:coreProperties>
</file>